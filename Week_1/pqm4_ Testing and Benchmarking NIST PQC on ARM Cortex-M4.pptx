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1675"/>
  <p:notesSz cx="6858000" cy="12191675"/>
  <p:embeddedFontLst>
    <p:embeddedFont>
      <p:font typeface="Fira Mono Medium"/>
      <p:regular r:id="rId13"/>
      <p:bold r:id="rId14"/>
    </p:embeddedFont>
    <p:embeddedFont>
      <p:font typeface="Fira Sans"/>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FiraMonoMedium-regular.fntdata"/><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FiraSans-regular.fntdata"/><Relationship Id="rId14" Type="http://schemas.openxmlformats.org/officeDocument/2006/relationships/font" Target="fonts/FiraMonoMedium-bold.fntdata"/><Relationship Id="rId17" Type="http://schemas.openxmlformats.org/officeDocument/2006/relationships/font" Target="fonts/FiraSans-italic.fntdata"/><Relationship Id="rId16" Type="http://schemas.openxmlformats.org/officeDocument/2006/relationships/font" Target="fonts/FiraSans-bold.fntdata"/><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font" Target="fonts/FiraSans-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 name="Google Shape;1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bg>
      <p:bgPr>
        <a:solidFill>
          <a:srgbClr val="000000"/>
        </a:solidFill>
      </p:bgPr>
    </p:bg>
    <p:spTree>
      <p:nvGrpSpPr>
        <p:cNvPr id="10" name="Shape 10"/>
        <p:cNvGrpSpPr/>
        <p:nvPr/>
      </p:nvGrpSpPr>
      <p:grpSpPr>
        <a:xfrm>
          <a:off x="0" y="0"/>
          <a:ext cx="0" cy="0"/>
          <a:chOff x="0" y="0"/>
          <a:chExt cx="0" cy="0"/>
        </a:xfrm>
      </p:grpSpPr>
      <p:sp>
        <p:nvSpPr>
          <p:cNvPr id="11" name="Google Shape;11;p2"/>
          <p:cNvSpPr/>
          <p:nvPr/>
        </p:nvSpPr>
        <p:spPr>
          <a:xfrm>
            <a:off x="0" y="0"/>
            <a:ext cx="12191695" cy="6858000"/>
          </a:xfrm>
          <a:prstGeom prst="rect">
            <a:avLst/>
          </a:prstGeom>
          <a:solidFill>
            <a:srgbClr val="181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2191695" cy="6858000"/>
          </a:xfrm>
          <a:prstGeom prst="rect">
            <a:avLst/>
          </a:prstGeom>
          <a:solidFill>
            <a:srgbClr val="0F0F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2"/>
          </p:cNvPr>
          <p:cNvPicPr preferRelativeResize="0"/>
          <p:nvPr/>
        </p:nvPicPr>
        <p:blipFill rotWithShape="1">
          <a:blip r:embed="rId3">
            <a:alphaModFix/>
          </a:blip>
          <a:srcRect b="0" l="0" r="0" t="0"/>
          <a:stretch/>
        </p:blipFill>
        <p:spPr>
          <a:xfrm>
            <a:off x="11076875" y="6558991"/>
            <a:ext cx="1071843" cy="2560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jpg"/><Relationship Id="rId4" Type="http://schemas.openxmlformats.org/officeDocument/2006/relationships/image" Target="../media/image7.jpg"/><Relationship Id="rId5"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 name="Shape 19"/>
        <p:cNvGrpSpPr/>
        <p:nvPr/>
      </p:nvGrpSpPr>
      <p:grpSpPr>
        <a:xfrm>
          <a:off x="0" y="0"/>
          <a:ext cx="0" cy="0"/>
          <a:chOff x="0" y="0"/>
          <a:chExt cx="0" cy="0"/>
        </a:xfrm>
      </p:grpSpPr>
      <p:pic>
        <p:nvPicPr>
          <p:cNvPr descr="preencoded.png" id="20" name="Google Shape;20;p4"/>
          <p:cNvPicPr preferRelativeResize="0"/>
          <p:nvPr/>
        </p:nvPicPr>
        <p:blipFill rotWithShape="1">
          <a:blip r:embed="rId3">
            <a:alphaModFix/>
          </a:blip>
          <a:srcRect b="0" l="0" r="0" t="0"/>
          <a:stretch/>
        </p:blipFill>
        <p:spPr>
          <a:xfrm>
            <a:off x="7619809" y="0"/>
            <a:ext cx="4571886" cy="6858000"/>
          </a:xfrm>
          <a:prstGeom prst="rect">
            <a:avLst/>
          </a:prstGeom>
          <a:noFill/>
          <a:ln>
            <a:noFill/>
          </a:ln>
        </p:spPr>
      </p:pic>
      <p:sp>
        <p:nvSpPr>
          <p:cNvPr id="21" name="Google Shape;21;p4"/>
          <p:cNvSpPr/>
          <p:nvPr/>
        </p:nvSpPr>
        <p:spPr>
          <a:xfrm>
            <a:off x="661475" y="2265263"/>
            <a:ext cx="6296860" cy="155019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BF3FA"/>
              </a:buClr>
              <a:buSzPts val="3250"/>
              <a:buFont typeface="Fira Mono Medium"/>
              <a:buNone/>
            </a:pPr>
            <a:r>
              <a:rPr b="0" i="0" lang="en-US" sz="3250" u="none" cap="none" strike="noStrike">
                <a:solidFill>
                  <a:srgbClr val="FBF3FA"/>
                </a:solidFill>
                <a:latin typeface="Fira Mono Medium"/>
                <a:ea typeface="Fira Mono Medium"/>
                <a:cs typeface="Fira Mono Medium"/>
                <a:sym typeface="Fira Mono Medium"/>
              </a:rPr>
              <a:t>pqm4: Testing and Benchmarking NIST PQC on ARM Cortex-M4</a:t>
            </a:r>
            <a:endParaRPr b="0" i="0" sz="3250" u="none" cap="none" strike="noStrike">
              <a:solidFill>
                <a:schemeClr val="dk1"/>
              </a:solidFill>
              <a:latin typeface="Calibri"/>
              <a:ea typeface="Calibri"/>
              <a:cs typeface="Calibri"/>
              <a:sym typeface="Calibri"/>
            </a:endParaRPr>
          </a:p>
        </p:txBody>
      </p:sp>
      <p:sp>
        <p:nvSpPr>
          <p:cNvPr id="22" name="Google Shape;22;p4"/>
          <p:cNvSpPr/>
          <p:nvPr/>
        </p:nvSpPr>
        <p:spPr>
          <a:xfrm>
            <a:off x="661475" y="4063504"/>
            <a:ext cx="6296860" cy="529233"/>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0D6DE"/>
              </a:buClr>
              <a:buSzPts val="1300"/>
              <a:buFont typeface="Fira Sans"/>
              <a:buNone/>
            </a:pPr>
            <a:r>
              <a:rPr b="0" i="0" lang="en-US" sz="1300" u="none" cap="none" strike="noStrike">
                <a:solidFill>
                  <a:srgbClr val="E0D6DE"/>
                </a:solidFill>
                <a:latin typeface="Fira Sans"/>
                <a:ea typeface="Fira Sans"/>
                <a:cs typeface="Fira Sans"/>
                <a:sym typeface="Fira Sans"/>
              </a:rPr>
              <a:t>A comprehensive research framework for evaluating post-quantum cryptographic algorithms on resource-constrained embedded hardware.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sp>
        <p:nvSpPr>
          <p:cNvPr id="28" name="Google Shape;28;p5"/>
          <p:cNvSpPr/>
          <p:nvPr/>
        </p:nvSpPr>
        <p:spPr>
          <a:xfrm>
            <a:off x="661475" y="846832"/>
            <a:ext cx="10868745" cy="46513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BF3FA"/>
              </a:buClr>
              <a:buSzPts val="2900"/>
              <a:buFont typeface="Fira Mono Medium"/>
              <a:buNone/>
            </a:pPr>
            <a:r>
              <a:rPr b="0" i="0" lang="en-US" sz="2900" u="none" cap="none" strike="noStrike">
                <a:solidFill>
                  <a:srgbClr val="FBF3FA"/>
                </a:solidFill>
                <a:latin typeface="Fira Mono Medium"/>
                <a:ea typeface="Fira Mono Medium"/>
                <a:cs typeface="Fira Mono Medium"/>
                <a:sym typeface="Fira Mono Medium"/>
              </a:rPr>
              <a:t>The Post-Quantum Reality</a:t>
            </a:r>
            <a:endParaRPr b="0" i="0" sz="2900" u="none" cap="none" strike="noStrike">
              <a:solidFill>
                <a:schemeClr val="dk1"/>
              </a:solidFill>
              <a:latin typeface="Calibri"/>
              <a:ea typeface="Calibri"/>
              <a:cs typeface="Calibri"/>
              <a:sym typeface="Calibri"/>
            </a:endParaRPr>
          </a:p>
        </p:txBody>
      </p:sp>
      <p:sp>
        <p:nvSpPr>
          <p:cNvPr id="29" name="Google Shape;29;p5"/>
          <p:cNvSpPr/>
          <p:nvPr/>
        </p:nvSpPr>
        <p:spPr>
          <a:xfrm>
            <a:off x="661475" y="1579860"/>
            <a:ext cx="10868745" cy="904875"/>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E0D6DE"/>
              </a:buClr>
              <a:buSzPts val="1150"/>
              <a:buFont typeface="Fira Sans"/>
              <a:buNone/>
            </a:pPr>
            <a:r>
              <a:rPr b="0" i="0" lang="en-US" sz="1150" u="none" cap="none" strike="noStrike">
                <a:solidFill>
                  <a:srgbClr val="E0D6DE"/>
                </a:solidFill>
                <a:latin typeface="Fira Sans"/>
                <a:ea typeface="Fira Sans"/>
                <a:cs typeface="Fira Sans"/>
                <a:sym typeface="Fira Sans"/>
              </a:rPr>
              <a:t>The cryptographic foundations of today's digital infrastructure derive their security from mathematical problems that are intractable for classical computers but are vulnerable to quantum algorithms. Shor's algorithm, when executed on a sufficiently powerful quantum computer, can factor large integers and compute discrete logarithms in polynomial time, rendering these schemes obsolete. This is not a distant theoretical concern: adversaries are already harvesting encrypted traffic today for future decryption once quantum computers become available — a threat model known as "harvest now, decrypt later."</a:t>
            </a:r>
            <a:endParaRPr b="0" i="0" sz="1150" u="none" cap="none" strike="noStrike">
              <a:solidFill>
                <a:schemeClr val="dk1"/>
              </a:solidFill>
              <a:latin typeface="Calibri"/>
              <a:ea typeface="Calibri"/>
              <a:cs typeface="Calibri"/>
              <a:sym typeface="Calibri"/>
            </a:endParaRPr>
          </a:p>
        </p:txBody>
      </p:sp>
      <p:pic>
        <p:nvPicPr>
          <p:cNvPr descr="preencoded.png" id="30" name="Google Shape;30;p5"/>
          <p:cNvPicPr preferRelativeResize="0"/>
          <p:nvPr/>
        </p:nvPicPr>
        <p:blipFill rotWithShape="1">
          <a:blip r:embed="rId3">
            <a:alphaModFix/>
          </a:blip>
          <a:srcRect b="0" l="0" r="0" t="0"/>
          <a:stretch/>
        </p:blipFill>
        <p:spPr>
          <a:xfrm>
            <a:off x="661475" y="2635448"/>
            <a:ext cx="3533587" cy="3375720"/>
          </a:xfrm>
          <a:prstGeom prst="rect">
            <a:avLst/>
          </a:prstGeom>
          <a:noFill/>
          <a:ln>
            <a:noFill/>
          </a:ln>
        </p:spPr>
      </p:pic>
      <p:sp>
        <p:nvSpPr>
          <p:cNvPr id="31" name="Google Shape;31;p5"/>
          <p:cNvSpPr/>
          <p:nvPr/>
        </p:nvSpPr>
        <p:spPr>
          <a:xfrm>
            <a:off x="905547" y="2803327"/>
            <a:ext cx="3121641" cy="46493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0D6DE"/>
              </a:buClr>
              <a:buSzPts val="1450"/>
              <a:buFont typeface="Fira Mono Medium"/>
              <a:buNone/>
            </a:pPr>
            <a:r>
              <a:rPr b="0" i="0" lang="en-US" sz="1450" u="none" cap="none" strike="noStrike">
                <a:solidFill>
                  <a:srgbClr val="E0D6DE"/>
                </a:solidFill>
                <a:latin typeface="Fira Mono Medium"/>
                <a:ea typeface="Fira Mono Medium"/>
                <a:cs typeface="Fira Mono Medium"/>
                <a:sym typeface="Fira Mono Medium"/>
              </a:rPr>
              <a:t>The Quantum Threat to Classical Cryptography</a:t>
            </a:r>
            <a:endParaRPr b="0" i="0" sz="1450" u="none" cap="none" strike="noStrike">
              <a:solidFill>
                <a:schemeClr val="dk1"/>
              </a:solidFill>
              <a:latin typeface="Calibri"/>
              <a:ea typeface="Calibri"/>
              <a:cs typeface="Calibri"/>
              <a:sym typeface="Calibri"/>
            </a:endParaRPr>
          </a:p>
        </p:txBody>
      </p:sp>
      <p:sp>
        <p:nvSpPr>
          <p:cNvPr id="32" name="Google Shape;32;p5"/>
          <p:cNvSpPr/>
          <p:nvPr/>
        </p:nvSpPr>
        <p:spPr>
          <a:xfrm>
            <a:off x="905547" y="3348633"/>
            <a:ext cx="3121641" cy="2035969"/>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E0D6DE"/>
              </a:buClr>
              <a:buSzPts val="1150"/>
              <a:buFont typeface="Fira Sans"/>
              <a:buNone/>
            </a:pPr>
            <a:r>
              <a:rPr b="0" i="0" lang="en-US" sz="1150" u="none" cap="none" strike="noStrike">
                <a:solidFill>
                  <a:srgbClr val="E0D6DE"/>
                </a:solidFill>
                <a:latin typeface="Fira Sans"/>
                <a:ea typeface="Fira Sans"/>
                <a:cs typeface="Fira Sans"/>
                <a:sym typeface="Fira Sans"/>
              </a:rPr>
              <a:t>Public-key cryptography underpins TLS, VPNs, firmware authentication, and secure boot across billions of IoT and embedded devices. Many of these devices have lifespans of 10–20 years, meaning hardware deployed today must remain secure well into the post-quantum era. The urgency to migrate to quantum-resistant algorithms is immediate, not deferred.</a:t>
            </a:r>
            <a:endParaRPr b="0" i="0" sz="1150" u="none" cap="none" strike="noStrike">
              <a:solidFill>
                <a:schemeClr val="dk1"/>
              </a:solidFill>
              <a:latin typeface="Calibri"/>
              <a:ea typeface="Calibri"/>
              <a:cs typeface="Calibri"/>
              <a:sym typeface="Calibri"/>
            </a:endParaRPr>
          </a:p>
        </p:txBody>
      </p:sp>
      <p:pic>
        <p:nvPicPr>
          <p:cNvPr descr="preencoded.png" id="33" name="Google Shape;33;p5"/>
          <p:cNvPicPr preferRelativeResize="0"/>
          <p:nvPr/>
        </p:nvPicPr>
        <p:blipFill rotWithShape="1">
          <a:blip r:embed="rId3">
            <a:alphaModFix/>
          </a:blip>
          <a:srcRect b="0" l="0" r="0" t="0"/>
          <a:stretch/>
        </p:blipFill>
        <p:spPr>
          <a:xfrm>
            <a:off x="4329004" y="2635448"/>
            <a:ext cx="3533587" cy="3375720"/>
          </a:xfrm>
          <a:prstGeom prst="rect">
            <a:avLst/>
          </a:prstGeom>
          <a:noFill/>
          <a:ln>
            <a:noFill/>
          </a:ln>
        </p:spPr>
      </p:pic>
      <p:sp>
        <p:nvSpPr>
          <p:cNvPr id="34" name="Google Shape;34;p5"/>
          <p:cNvSpPr/>
          <p:nvPr/>
        </p:nvSpPr>
        <p:spPr>
          <a:xfrm>
            <a:off x="4573076" y="2803327"/>
            <a:ext cx="3121641" cy="6974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0D6DE"/>
              </a:buClr>
              <a:buSzPts val="1450"/>
              <a:buFont typeface="Fira Mono Medium"/>
              <a:buNone/>
            </a:pPr>
            <a:r>
              <a:rPr b="0" i="0" lang="en-US" sz="1450" u="none" cap="none" strike="noStrike">
                <a:solidFill>
                  <a:srgbClr val="E0D6DE"/>
                </a:solidFill>
                <a:latin typeface="Fira Mono Medium"/>
                <a:ea typeface="Fira Mono Medium"/>
                <a:cs typeface="Fira Mono Medium"/>
                <a:sym typeface="Fira Mono Medium"/>
              </a:rPr>
              <a:t>Microcontrollers Secure High-Value, Long-Term Assets</a:t>
            </a:r>
            <a:endParaRPr b="0" i="0" sz="1450" u="none" cap="none" strike="noStrike">
              <a:solidFill>
                <a:schemeClr val="dk1"/>
              </a:solidFill>
              <a:latin typeface="Calibri"/>
              <a:ea typeface="Calibri"/>
              <a:cs typeface="Calibri"/>
              <a:sym typeface="Calibri"/>
            </a:endParaRPr>
          </a:p>
        </p:txBody>
      </p:sp>
      <p:sp>
        <p:nvSpPr>
          <p:cNvPr id="35" name="Google Shape;35;p5"/>
          <p:cNvSpPr/>
          <p:nvPr/>
        </p:nvSpPr>
        <p:spPr>
          <a:xfrm>
            <a:off x="4573076" y="3581102"/>
            <a:ext cx="3121641" cy="2262188"/>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E0D6DE"/>
              </a:buClr>
              <a:buSzPts val="1150"/>
              <a:buFont typeface="Fira Sans"/>
              <a:buNone/>
            </a:pPr>
            <a:r>
              <a:rPr b="0" i="0" lang="en-US" sz="1150" u="none" cap="none" strike="noStrike">
                <a:solidFill>
                  <a:srgbClr val="E0D6DE"/>
                </a:solidFill>
                <a:latin typeface="Fira Sans"/>
                <a:ea typeface="Fira Sans"/>
                <a:cs typeface="Fira Sans"/>
                <a:sym typeface="Fira Sans"/>
              </a:rPr>
              <a:t>ARM Cortex-M microcontrollers are ubiquitous in industrial control systems, medical implants, automotive ECUs, smart meters, and IoT endpoints. These devices often operate unattended for years, authenticate firmware updates, and protect sensitive telemetry. Their constrained resources make algorithm selection and optimization critically important — a poorly chosen PQC scheme can render a device non-functional.</a:t>
            </a:r>
            <a:endParaRPr b="0" i="0" sz="1150" u="none" cap="none" strike="noStrike">
              <a:solidFill>
                <a:schemeClr val="dk1"/>
              </a:solidFill>
              <a:latin typeface="Calibri"/>
              <a:ea typeface="Calibri"/>
              <a:cs typeface="Calibri"/>
              <a:sym typeface="Calibri"/>
            </a:endParaRPr>
          </a:p>
        </p:txBody>
      </p:sp>
      <p:pic>
        <p:nvPicPr>
          <p:cNvPr descr="preencoded.png" id="36" name="Google Shape;36;p5"/>
          <p:cNvPicPr preferRelativeResize="0"/>
          <p:nvPr/>
        </p:nvPicPr>
        <p:blipFill rotWithShape="1">
          <a:blip r:embed="rId3">
            <a:alphaModFix/>
          </a:blip>
          <a:srcRect b="0" l="0" r="0" t="0"/>
          <a:stretch/>
        </p:blipFill>
        <p:spPr>
          <a:xfrm>
            <a:off x="7996534" y="2635448"/>
            <a:ext cx="3533587" cy="3375720"/>
          </a:xfrm>
          <a:prstGeom prst="rect">
            <a:avLst/>
          </a:prstGeom>
          <a:noFill/>
          <a:ln>
            <a:noFill/>
          </a:ln>
        </p:spPr>
      </p:pic>
      <p:sp>
        <p:nvSpPr>
          <p:cNvPr id="37" name="Google Shape;37;p5"/>
          <p:cNvSpPr/>
          <p:nvPr/>
        </p:nvSpPr>
        <p:spPr>
          <a:xfrm>
            <a:off x="8240606" y="2803327"/>
            <a:ext cx="3121641" cy="46493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0D6DE"/>
              </a:buClr>
              <a:buSzPts val="1450"/>
              <a:buFont typeface="Fira Mono Medium"/>
              <a:buNone/>
            </a:pPr>
            <a:r>
              <a:rPr b="0" i="0" lang="en-US" sz="1450" u="none" cap="none" strike="noStrike">
                <a:solidFill>
                  <a:srgbClr val="E0D6DE"/>
                </a:solidFill>
                <a:latin typeface="Fira Mono Medium"/>
                <a:ea typeface="Fira Mono Medium"/>
                <a:cs typeface="Fira Mono Medium"/>
                <a:sym typeface="Fira Mono Medium"/>
              </a:rPr>
              <a:t>The Core Challenge: Size, Speed, and Memory</a:t>
            </a:r>
            <a:endParaRPr b="0" i="0" sz="1450" u="none" cap="none" strike="noStrike">
              <a:solidFill>
                <a:schemeClr val="dk1"/>
              </a:solidFill>
              <a:latin typeface="Calibri"/>
              <a:ea typeface="Calibri"/>
              <a:cs typeface="Calibri"/>
              <a:sym typeface="Calibri"/>
            </a:endParaRPr>
          </a:p>
        </p:txBody>
      </p:sp>
      <p:sp>
        <p:nvSpPr>
          <p:cNvPr id="38" name="Google Shape;38;p5"/>
          <p:cNvSpPr/>
          <p:nvPr/>
        </p:nvSpPr>
        <p:spPr>
          <a:xfrm>
            <a:off x="8240606" y="3348633"/>
            <a:ext cx="3121641" cy="2035969"/>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E0D6DE"/>
              </a:buClr>
              <a:buSzPts val="1150"/>
              <a:buFont typeface="Fira Sans"/>
              <a:buNone/>
            </a:pPr>
            <a:r>
              <a:rPr b="0" i="0" lang="en-US" sz="1150" u="none" cap="none" strike="noStrike">
                <a:solidFill>
                  <a:srgbClr val="E0D6DE"/>
                </a:solidFill>
                <a:latin typeface="Fira Sans"/>
                <a:ea typeface="Fira Sans"/>
                <a:cs typeface="Fira Sans"/>
                <a:sym typeface="Fira Sans"/>
              </a:rPr>
              <a:t>Post-quantum candidates were primarily designed for server and desktop environments. Key sizes can reach hundreds of kilobytes, signature sizes can exceed tens of kilobytes, and computational complexity can overwhelm a small IoT. The central research question: </a:t>
            </a:r>
            <a:r>
              <a:rPr b="1" i="0" lang="en-US" sz="1150" u="none" cap="none" strike="noStrike">
                <a:solidFill>
                  <a:srgbClr val="E0D6DE"/>
                </a:solidFill>
                <a:latin typeface="Fira Sans"/>
                <a:ea typeface="Fira Sans"/>
                <a:cs typeface="Fira Sans"/>
                <a:sym typeface="Fira Sans"/>
              </a:rPr>
              <a:t>which PQC schemes can actually run on constrained hardware, and at what performance cost?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6"/>
          <p:cNvSpPr/>
          <p:nvPr/>
        </p:nvSpPr>
        <p:spPr>
          <a:xfrm>
            <a:off x="661475" y="726877"/>
            <a:ext cx="10868745" cy="43924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BF3FA"/>
              </a:buClr>
              <a:buSzPts val="2750"/>
              <a:buFont typeface="Fira Mono Medium"/>
              <a:buNone/>
            </a:pPr>
            <a:r>
              <a:rPr b="0" i="0" lang="en-US" sz="2750" u="none" cap="none" strike="noStrike">
                <a:solidFill>
                  <a:srgbClr val="FBF3FA"/>
                </a:solidFill>
                <a:latin typeface="Fira Mono Medium"/>
                <a:ea typeface="Fira Mono Medium"/>
                <a:cs typeface="Fira Mono Medium"/>
                <a:sym typeface="Fira Mono Medium"/>
              </a:rPr>
              <a:t>Why ARM Cortex-M4?</a:t>
            </a:r>
            <a:endParaRPr b="0" i="0" sz="2750" u="none" cap="none" strike="noStrike">
              <a:solidFill>
                <a:schemeClr val="dk1"/>
              </a:solidFill>
              <a:latin typeface="Calibri"/>
              <a:ea typeface="Calibri"/>
              <a:cs typeface="Calibri"/>
              <a:sym typeface="Calibri"/>
            </a:endParaRPr>
          </a:p>
        </p:txBody>
      </p:sp>
      <p:sp>
        <p:nvSpPr>
          <p:cNvPr id="45" name="Google Shape;45;p6"/>
          <p:cNvSpPr/>
          <p:nvPr/>
        </p:nvSpPr>
        <p:spPr>
          <a:xfrm>
            <a:off x="661475" y="1405037"/>
            <a:ext cx="10868745" cy="416123"/>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E0D6DE"/>
              </a:buClr>
              <a:buSzPts val="1100"/>
              <a:buFont typeface="Fira Sans"/>
              <a:buNone/>
            </a:pPr>
            <a:r>
              <a:rPr b="0" i="0" lang="en-US" sz="1100" u="none" cap="none" strike="noStrike">
                <a:solidFill>
                  <a:srgbClr val="E0D6DE"/>
                </a:solidFill>
                <a:latin typeface="Fira Sans"/>
                <a:ea typeface="Fira Sans"/>
                <a:cs typeface="Fira Sans"/>
                <a:sym typeface="Fira Sans"/>
              </a:rPr>
              <a:t>NIST explicitly recommended it as a primary optimization target for post-quantum cryptography submissions, recognising that embedded deployment is a first-class requirement. </a:t>
            </a:r>
            <a:endParaRPr b="0" i="0" sz="1100" u="none" cap="none" strike="noStrike">
              <a:solidFill>
                <a:schemeClr val="dk1"/>
              </a:solidFill>
              <a:latin typeface="Calibri"/>
              <a:ea typeface="Calibri"/>
              <a:cs typeface="Calibri"/>
              <a:sym typeface="Calibri"/>
            </a:endParaRPr>
          </a:p>
        </p:txBody>
      </p:sp>
      <p:sp>
        <p:nvSpPr>
          <p:cNvPr id="46" name="Google Shape;46;p6"/>
          <p:cNvSpPr/>
          <p:nvPr/>
        </p:nvSpPr>
        <p:spPr>
          <a:xfrm>
            <a:off x="560274" y="1955502"/>
            <a:ext cx="5465328" cy="4175621"/>
          </a:xfrm>
          <a:prstGeom prst="roundRect">
            <a:avLst>
              <a:gd fmla="val 505" name="adj"/>
            </a:avLst>
          </a:prstGeom>
          <a:solidFill>
            <a:srgbClr val="FF6B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6"/>
          <p:cNvSpPr/>
          <p:nvPr/>
        </p:nvSpPr>
        <p:spPr>
          <a:xfrm>
            <a:off x="700765" y="2074962"/>
            <a:ext cx="5184348" cy="21957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350"/>
              <a:buFont typeface="Fira Mono Medium"/>
              <a:buNone/>
            </a:pPr>
            <a:r>
              <a:rPr b="0" i="0" lang="en-US" sz="1350" u="none" cap="none" strike="noStrike">
                <a:solidFill>
                  <a:srgbClr val="000000"/>
                </a:solidFill>
                <a:latin typeface="Fira Mono Medium"/>
                <a:ea typeface="Fira Mono Medium"/>
                <a:cs typeface="Fira Mono Medium"/>
                <a:sym typeface="Fira Mono Medium"/>
              </a:rPr>
              <a:t>Architectural Advantages</a:t>
            </a:r>
            <a:endParaRPr b="0" i="0" sz="1350" u="none" cap="none" strike="noStrike">
              <a:solidFill>
                <a:schemeClr val="dk1"/>
              </a:solidFill>
              <a:latin typeface="Calibri"/>
              <a:ea typeface="Calibri"/>
              <a:cs typeface="Calibri"/>
              <a:sym typeface="Calibri"/>
            </a:endParaRPr>
          </a:p>
        </p:txBody>
      </p:sp>
      <p:sp>
        <p:nvSpPr>
          <p:cNvPr id="48" name="Google Shape;48;p6"/>
          <p:cNvSpPr/>
          <p:nvPr/>
        </p:nvSpPr>
        <p:spPr>
          <a:xfrm>
            <a:off x="700765" y="2413992"/>
            <a:ext cx="5184348" cy="2188071"/>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000000"/>
              </a:buClr>
              <a:buSzPts val="1100"/>
              <a:buFont typeface="Fira Sans"/>
              <a:buNone/>
            </a:pPr>
            <a:r>
              <a:rPr b="0" i="0" lang="en-US" sz="1100" u="none" cap="none" strike="noStrike">
                <a:solidFill>
                  <a:srgbClr val="000000"/>
                </a:solidFill>
                <a:latin typeface="Fira Sans"/>
                <a:ea typeface="Fira Sans"/>
                <a:cs typeface="Fira Sans"/>
                <a:sym typeface="Fira Sans"/>
              </a:rPr>
              <a:t>The Cortex-M4 is a 32-bit RISC processor based on the ARMv7E-M architecture, running at up to 168 MHz on the STM32F4 series. Its key differentiator is the integrated </a:t>
            </a:r>
            <a:r>
              <a:rPr b="1" i="0" lang="en-US" sz="1100" u="none" cap="none" strike="noStrike">
                <a:solidFill>
                  <a:srgbClr val="000000"/>
                </a:solidFill>
                <a:latin typeface="Fira Sans"/>
                <a:ea typeface="Fira Sans"/>
                <a:cs typeface="Fira Sans"/>
                <a:sym typeface="Fira Sans"/>
              </a:rPr>
              <a:t>DSP (Digital Signal Processing) instruction set</a:t>
            </a:r>
            <a:r>
              <a:rPr b="0" i="0" lang="en-US" sz="1100" u="none" cap="none" strike="noStrike">
                <a:solidFill>
                  <a:srgbClr val="000000"/>
                </a:solidFill>
                <a:latin typeface="Fira Sans"/>
                <a:ea typeface="Fira Sans"/>
                <a:cs typeface="Fira Sans"/>
                <a:sym typeface="Fira Sans"/>
              </a:rPr>
              <a:t>, which includes hardware multiply-accumulate (MAC) operations, SIMD-style parallel arithmetic, and single-cycle multiplication. These instructions are directly exploitable by PQC algorithms — particularly lattice-based schemes like Kyber and Dilithium, which rely heavily on polynomial multiplication and modular arithmetic.</a:t>
            </a:r>
            <a:endParaRPr b="0" i="0" sz="1100" u="none" cap="none" strike="noStrike">
              <a:solidFill>
                <a:schemeClr val="dk1"/>
              </a:solidFill>
              <a:latin typeface="Calibri"/>
              <a:ea typeface="Calibri"/>
              <a:cs typeface="Calibri"/>
              <a:sym typeface="Calibri"/>
            </a:endParaRPr>
          </a:p>
          <a:p>
            <a:pPr indent="0" lvl="0" marL="0" marR="0" rtl="0" algn="l">
              <a:lnSpc>
                <a:spcPct val="123000"/>
              </a:lnSpc>
              <a:spcBef>
                <a:spcPts val="800"/>
              </a:spcBef>
              <a:spcAft>
                <a:spcPts val="0"/>
              </a:spcAft>
              <a:buClr>
                <a:srgbClr val="000000"/>
              </a:buClr>
              <a:buSzPts val="1100"/>
              <a:buFont typeface="Fira Sans"/>
              <a:buNone/>
            </a:pPr>
            <a:r>
              <a:rPr b="0" i="0" lang="en-US" sz="1100" u="none" cap="none" strike="noStrike">
                <a:solidFill>
                  <a:srgbClr val="000000"/>
                </a:solidFill>
                <a:latin typeface="Fira Sans"/>
                <a:ea typeface="Fira Sans"/>
                <a:cs typeface="Fira Sans"/>
                <a:sym typeface="Fira Sans"/>
              </a:rPr>
              <a:t>The architecture also features a </a:t>
            </a:r>
            <a:r>
              <a:rPr b="1" i="0" lang="en-US" sz="1100" u="none" cap="none" strike="noStrike">
                <a:solidFill>
                  <a:srgbClr val="000000"/>
                </a:solidFill>
                <a:latin typeface="Fira Sans"/>
                <a:ea typeface="Fira Sans"/>
                <a:cs typeface="Fira Sans"/>
                <a:sym typeface="Fira Sans"/>
              </a:rPr>
              <a:t>NVIC (Nested Vectored Interrupt Controller)</a:t>
            </a:r>
            <a:r>
              <a:rPr b="0" i="0" lang="en-US" sz="1100" u="none" cap="none" strike="noStrike">
                <a:solidFill>
                  <a:srgbClr val="000000"/>
                </a:solidFill>
                <a:latin typeface="Fira Sans"/>
                <a:ea typeface="Fira Sans"/>
                <a:cs typeface="Fira Sans"/>
                <a:sym typeface="Fira Sans"/>
              </a:rPr>
              <a:t> for real-time responsiveness and an optional </a:t>
            </a:r>
            <a:r>
              <a:rPr b="1" i="0" lang="en-US" sz="1100" u="none" cap="none" strike="noStrike">
                <a:solidFill>
                  <a:srgbClr val="000000"/>
                </a:solidFill>
                <a:latin typeface="Fira Sans"/>
                <a:ea typeface="Fira Sans"/>
                <a:cs typeface="Fira Sans"/>
                <a:sym typeface="Fira Sans"/>
              </a:rPr>
              <a:t>FPU (Floating-Point Unit)</a:t>
            </a:r>
            <a:r>
              <a:rPr b="0" i="0" lang="en-US" sz="1100" u="none" cap="none" strike="noStrike">
                <a:solidFill>
                  <a:srgbClr val="000000"/>
                </a:solidFill>
                <a:latin typeface="Fira Sans"/>
                <a:ea typeface="Fira Sans"/>
                <a:cs typeface="Fira Sans"/>
                <a:sym typeface="Fira Sans"/>
              </a:rPr>
              <a:t>, though most PQC implementations avoid floating-point for determinism and portability.</a:t>
            </a:r>
            <a:endParaRPr b="0" i="0" sz="1100" u="none" cap="none" strike="noStrike">
              <a:solidFill>
                <a:schemeClr val="dk1"/>
              </a:solidFill>
              <a:latin typeface="Calibri"/>
              <a:ea typeface="Calibri"/>
              <a:cs typeface="Calibri"/>
              <a:sym typeface="Calibri"/>
            </a:endParaRPr>
          </a:p>
        </p:txBody>
      </p:sp>
      <p:sp>
        <p:nvSpPr>
          <p:cNvPr id="49" name="Google Shape;49;p6"/>
          <p:cNvSpPr/>
          <p:nvPr/>
        </p:nvSpPr>
        <p:spPr>
          <a:xfrm>
            <a:off x="6273643" y="2074962"/>
            <a:ext cx="5262927" cy="21957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BF3FA"/>
              </a:buClr>
              <a:buSzPts val="1350"/>
              <a:buFont typeface="Fira Mono Medium"/>
              <a:buNone/>
            </a:pPr>
            <a:r>
              <a:rPr b="0" i="0" lang="en-US" sz="1350" u="none" cap="none" strike="noStrike">
                <a:solidFill>
                  <a:srgbClr val="FBF3FA"/>
                </a:solidFill>
                <a:latin typeface="Fira Mono Medium"/>
                <a:ea typeface="Fira Mono Medium"/>
                <a:cs typeface="Fira Mono Medium"/>
                <a:sym typeface="Fira Mono Medium"/>
              </a:rPr>
              <a:t>Availability and Ecosystem</a:t>
            </a:r>
            <a:endParaRPr b="0" i="0" sz="1350" u="none" cap="none" strike="noStrike">
              <a:solidFill>
                <a:schemeClr val="dk1"/>
              </a:solidFill>
              <a:latin typeface="Calibri"/>
              <a:ea typeface="Calibri"/>
              <a:cs typeface="Calibri"/>
              <a:sym typeface="Calibri"/>
            </a:endParaRPr>
          </a:p>
        </p:txBody>
      </p:sp>
      <p:sp>
        <p:nvSpPr>
          <p:cNvPr id="50" name="Google Shape;50;p6"/>
          <p:cNvSpPr/>
          <p:nvPr/>
        </p:nvSpPr>
        <p:spPr>
          <a:xfrm>
            <a:off x="6273643" y="2413992"/>
            <a:ext cx="5262927" cy="1040309"/>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E0D6DE"/>
              </a:buClr>
              <a:buSzPts val="1100"/>
              <a:buFont typeface="Fira Sans"/>
              <a:buNone/>
            </a:pPr>
            <a:r>
              <a:rPr b="0" i="0" lang="en-US" sz="1100" u="none" cap="none" strike="noStrike">
                <a:solidFill>
                  <a:srgbClr val="E0D6DE"/>
                </a:solidFill>
                <a:latin typeface="Fira Sans"/>
                <a:ea typeface="Fira Sans"/>
                <a:cs typeface="Fira Sans"/>
                <a:sym typeface="Fira Sans"/>
              </a:rPr>
              <a:t>The STM32F4DISCOVERY board, based on the STM32F407VG microcontroller, is available for under </a:t>
            </a:r>
            <a:r>
              <a:rPr b="1" i="0" lang="en-US" sz="1100" u="none" cap="none" strike="noStrike">
                <a:solidFill>
                  <a:srgbClr val="E0D6DE"/>
                </a:solidFill>
                <a:latin typeface="Fira Sans"/>
                <a:ea typeface="Fira Sans"/>
                <a:cs typeface="Fira Sans"/>
                <a:sym typeface="Fira Sans"/>
              </a:rPr>
              <a:t>$20 USD</a:t>
            </a:r>
            <a:r>
              <a:rPr b="0" i="0" lang="en-US" sz="1100" u="none" cap="none" strike="noStrike">
                <a:solidFill>
                  <a:srgbClr val="E0D6DE"/>
                </a:solidFill>
                <a:latin typeface="Fira Sans"/>
                <a:ea typeface="Fira Sans"/>
                <a:cs typeface="Fira Sans"/>
                <a:sym typeface="Fira Sans"/>
              </a:rPr>
              <a:t> and is supported by a mature ecosystem: STM32CubeMX for hardware configuration, ARM Keil and GCC toolchains, FreeRTOS, and extensive community documentation. This accessibility means any researcher or developer can reproduce pqm4 results without specialised equipment.</a:t>
            </a:r>
            <a:endParaRPr b="0" i="0" sz="1100" u="none" cap="none" strike="noStrike">
              <a:solidFill>
                <a:schemeClr val="dk1"/>
              </a:solidFill>
              <a:latin typeface="Calibri"/>
              <a:ea typeface="Calibri"/>
              <a:cs typeface="Calibri"/>
              <a:sym typeface="Calibri"/>
            </a:endParaRPr>
          </a:p>
        </p:txBody>
      </p:sp>
      <p:sp>
        <p:nvSpPr>
          <p:cNvPr id="51" name="Google Shape;51;p6"/>
          <p:cNvSpPr/>
          <p:nvPr/>
        </p:nvSpPr>
        <p:spPr>
          <a:xfrm>
            <a:off x="6273643" y="3573760"/>
            <a:ext cx="5262927" cy="21957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BF3FA"/>
              </a:buClr>
              <a:buSzPts val="1350"/>
              <a:buFont typeface="Fira Mono Medium"/>
              <a:buNone/>
            </a:pPr>
            <a:r>
              <a:rPr b="0" i="0" lang="en-US" sz="1350" u="none" cap="none" strike="noStrike">
                <a:solidFill>
                  <a:srgbClr val="FBF3FA"/>
                </a:solidFill>
                <a:latin typeface="Fira Mono Medium"/>
                <a:ea typeface="Fira Mono Medium"/>
                <a:cs typeface="Fira Mono Medium"/>
                <a:sym typeface="Fira Mono Medium"/>
              </a:rPr>
              <a:t>NIST Endorsement</a:t>
            </a:r>
            <a:endParaRPr b="0" i="0" sz="1350" u="none" cap="none" strike="noStrike">
              <a:solidFill>
                <a:schemeClr val="dk1"/>
              </a:solidFill>
              <a:latin typeface="Calibri"/>
              <a:ea typeface="Calibri"/>
              <a:cs typeface="Calibri"/>
              <a:sym typeface="Calibri"/>
            </a:endParaRPr>
          </a:p>
        </p:txBody>
      </p:sp>
      <p:sp>
        <p:nvSpPr>
          <p:cNvPr id="52" name="Google Shape;52;p6"/>
          <p:cNvSpPr/>
          <p:nvPr/>
        </p:nvSpPr>
        <p:spPr>
          <a:xfrm>
            <a:off x="6273643" y="3912791"/>
            <a:ext cx="5262927" cy="1040309"/>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E0D6DE"/>
              </a:buClr>
              <a:buSzPts val="1100"/>
              <a:buFont typeface="Fira Sans"/>
              <a:buNone/>
            </a:pPr>
            <a:r>
              <a:rPr b="0" i="0" lang="en-US" sz="1100" u="none" cap="none" strike="noStrike">
                <a:solidFill>
                  <a:srgbClr val="E0D6DE"/>
                </a:solidFill>
                <a:latin typeface="Fira Sans"/>
                <a:ea typeface="Fira Sans"/>
                <a:cs typeface="Fira Sans"/>
                <a:sym typeface="Fira Sans"/>
              </a:rPr>
              <a:t>NIST's PQC standardisation process explicitly called for implementations and benchmarks on the Cortex-M4. Submissions that ignored embedded performance were viewed less favourably. This institutional endorsement validated pqm4's focus and ensured its relevance to the broader cryptographic community during the critical Round 2 and Round 3 evaluation phases.</a:t>
            </a:r>
            <a:endParaRPr b="0" i="0" sz="1100" u="none" cap="none" strike="noStrike">
              <a:solidFill>
                <a:schemeClr val="dk1"/>
              </a:solidFill>
              <a:latin typeface="Calibri"/>
              <a:ea typeface="Calibri"/>
              <a:cs typeface="Calibri"/>
              <a:sym typeface="Calibri"/>
            </a:endParaRPr>
          </a:p>
        </p:txBody>
      </p:sp>
      <p:sp>
        <p:nvSpPr>
          <p:cNvPr id="53" name="Google Shape;53;p6"/>
          <p:cNvSpPr/>
          <p:nvPr/>
        </p:nvSpPr>
        <p:spPr>
          <a:xfrm>
            <a:off x="6273643" y="5087441"/>
            <a:ext cx="5262927" cy="909340"/>
          </a:xfrm>
          <a:prstGeom prst="roundRect">
            <a:avLst>
              <a:gd fmla="val 2319" name="adj"/>
            </a:avLst>
          </a:prstGeom>
          <a:solidFill>
            <a:srgbClr val="0223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4" name="Google Shape;54;p6"/>
          <p:cNvPicPr preferRelativeResize="0"/>
          <p:nvPr/>
        </p:nvPicPr>
        <p:blipFill rotWithShape="1">
          <a:blip r:embed="rId3">
            <a:alphaModFix/>
          </a:blip>
          <a:srcRect b="0" l="0" r="0" t="0"/>
          <a:stretch/>
        </p:blipFill>
        <p:spPr>
          <a:xfrm>
            <a:off x="6414133" y="5286177"/>
            <a:ext cx="175712" cy="140494"/>
          </a:xfrm>
          <a:prstGeom prst="rect">
            <a:avLst/>
          </a:prstGeom>
          <a:noFill/>
          <a:ln>
            <a:noFill/>
          </a:ln>
        </p:spPr>
      </p:pic>
      <p:sp>
        <p:nvSpPr>
          <p:cNvPr id="55" name="Google Shape;55;p6"/>
          <p:cNvSpPr/>
          <p:nvPr/>
        </p:nvSpPr>
        <p:spPr>
          <a:xfrm>
            <a:off x="6730336" y="5230019"/>
            <a:ext cx="4665744" cy="624185"/>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FFFFFF"/>
              </a:buClr>
              <a:buSzPts val="1100"/>
              <a:buFont typeface="Fira Sans"/>
              <a:buNone/>
            </a:pPr>
            <a:r>
              <a:rPr b="0" i="0" lang="en-US" sz="1100" u="none" cap="none" strike="noStrike">
                <a:solidFill>
                  <a:srgbClr val="FFFFFF"/>
                </a:solidFill>
                <a:latin typeface="Fira Sans"/>
                <a:ea typeface="Fira Sans"/>
                <a:cs typeface="Fira Sans"/>
                <a:sym typeface="Fira Sans"/>
              </a:rPr>
              <a:t>The Cortex-M4 is the most widely deployed 32-bit MCU architecture globally, with billions of units shipped across automotive, industrial, medical, and consumer electronics segments.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7"/>
          <p:cNvSpPr/>
          <p:nvPr/>
        </p:nvSpPr>
        <p:spPr>
          <a:xfrm>
            <a:off x="661475" y="597098"/>
            <a:ext cx="10868745" cy="46513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BF3FA"/>
              </a:buClr>
              <a:buSzPts val="2900"/>
              <a:buFont typeface="Fira Mono Medium"/>
              <a:buNone/>
            </a:pPr>
            <a:r>
              <a:rPr b="0" i="0" lang="en-US" sz="2900" u="none" cap="none" strike="noStrike">
                <a:solidFill>
                  <a:srgbClr val="FBF3FA"/>
                </a:solidFill>
                <a:latin typeface="Fira Mono Medium"/>
                <a:ea typeface="Fira Mono Medium"/>
                <a:cs typeface="Fira Mono Medium"/>
                <a:sym typeface="Fira Mono Medium"/>
              </a:rPr>
              <a:t>Introducing pqm4</a:t>
            </a:r>
            <a:endParaRPr b="0" i="0" sz="2900" u="none" cap="none" strike="noStrike">
              <a:solidFill>
                <a:schemeClr val="dk1"/>
              </a:solidFill>
              <a:latin typeface="Calibri"/>
              <a:ea typeface="Calibri"/>
              <a:cs typeface="Calibri"/>
              <a:sym typeface="Calibri"/>
            </a:endParaRPr>
          </a:p>
        </p:txBody>
      </p:sp>
      <p:sp>
        <p:nvSpPr>
          <p:cNvPr id="62" name="Google Shape;62;p7"/>
          <p:cNvSpPr/>
          <p:nvPr/>
        </p:nvSpPr>
        <p:spPr>
          <a:xfrm>
            <a:off x="661475" y="1330127"/>
            <a:ext cx="10868745" cy="678656"/>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E0D6DE"/>
              </a:buClr>
              <a:buSzPts val="1150"/>
              <a:buFont typeface="Fira Sans"/>
              <a:buNone/>
            </a:pPr>
            <a:r>
              <a:rPr b="0" i="0" lang="en-US" sz="1150" u="none" cap="none" strike="noStrike">
                <a:solidFill>
                  <a:srgbClr val="E0D6DE"/>
                </a:solidFill>
                <a:latin typeface="Fira Sans"/>
                <a:ea typeface="Fira Sans"/>
                <a:cs typeface="Fira Sans"/>
                <a:sym typeface="Fira Sans"/>
              </a:rPr>
              <a:t>pqm4 is an open-source testing and benchmarking framework developed by </a:t>
            </a:r>
            <a:r>
              <a:rPr b="1" i="0" lang="en-US" sz="1150" u="none" cap="none" strike="noStrike">
                <a:solidFill>
                  <a:srgbClr val="E0D6DE"/>
                </a:solidFill>
                <a:latin typeface="Fira Sans"/>
                <a:ea typeface="Fira Sans"/>
                <a:cs typeface="Fira Sans"/>
                <a:sym typeface="Fira Sans"/>
              </a:rPr>
              <a:t>Matthias J. Kannwischer, Joost Rijneveld, Peter Schwabe, and Ko Stoffelen</a:t>
            </a:r>
            <a:r>
              <a:rPr b="0" i="0" lang="en-US" sz="1150" u="none" cap="none" strike="noStrike">
                <a:solidFill>
                  <a:srgbClr val="E0D6DE"/>
                </a:solidFill>
                <a:latin typeface="Fira Sans"/>
                <a:ea typeface="Fira Sans"/>
                <a:cs typeface="Fira Sans"/>
                <a:sym typeface="Fira Sans"/>
              </a:rPr>
              <a:t>. It provides a unified, reproducible environment for evaluating NIST PQC candidates on real ARM Cortex-M4 hardware — moving beyond simulation and theoretical analysis to </a:t>
            </a:r>
            <a:r>
              <a:rPr b="1" i="0" lang="en-US" sz="1150" u="none" cap="none" strike="noStrike">
                <a:solidFill>
                  <a:srgbClr val="E0D6DE"/>
                </a:solidFill>
                <a:latin typeface="Fira Sans"/>
                <a:ea typeface="Fira Sans"/>
                <a:cs typeface="Fira Sans"/>
                <a:sym typeface="Fira Sans"/>
              </a:rPr>
              <a:t>empirical measurement on physical silicon</a:t>
            </a:r>
            <a:r>
              <a:rPr b="0" i="0" lang="en-US" sz="1150" u="none" cap="none" strike="noStrike">
                <a:solidFill>
                  <a:srgbClr val="E0D6DE"/>
                </a:solidFill>
                <a:latin typeface="Fira Sans"/>
                <a:ea typeface="Fira Sans"/>
                <a:cs typeface="Fira Sans"/>
                <a:sym typeface="Fira Sans"/>
              </a:rPr>
              <a:t>.</a:t>
            </a:r>
            <a:endParaRPr b="0" i="0" sz="1150" u="none" cap="none" strike="noStrike">
              <a:solidFill>
                <a:schemeClr val="dk1"/>
              </a:solidFill>
              <a:latin typeface="Calibri"/>
              <a:ea typeface="Calibri"/>
              <a:cs typeface="Calibri"/>
              <a:sym typeface="Calibri"/>
            </a:endParaRPr>
          </a:p>
        </p:txBody>
      </p:sp>
      <p:pic>
        <p:nvPicPr>
          <p:cNvPr descr="preencoded.png" id="63" name="Google Shape;63;p7"/>
          <p:cNvPicPr preferRelativeResize="0"/>
          <p:nvPr/>
        </p:nvPicPr>
        <p:blipFill rotWithShape="1">
          <a:blip r:embed="rId3">
            <a:alphaModFix/>
          </a:blip>
          <a:srcRect b="0" l="0" r="0" t="0"/>
          <a:stretch/>
        </p:blipFill>
        <p:spPr>
          <a:xfrm>
            <a:off x="661475" y="2159496"/>
            <a:ext cx="1832822" cy="1132780"/>
          </a:xfrm>
          <a:prstGeom prst="rect">
            <a:avLst/>
          </a:prstGeom>
          <a:noFill/>
          <a:ln>
            <a:noFill/>
          </a:ln>
        </p:spPr>
      </p:pic>
      <p:sp>
        <p:nvSpPr>
          <p:cNvPr id="64" name="Google Shape;64;p7"/>
          <p:cNvSpPr/>
          <p:nvPr/>
        </p:nvSpPr>
        <p:spPr>
          <a:xfrm>
            <a:off x="661475" y="3459659"/>
            <a:ext cx="3511264" cy="46493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0D6DE"/>
              </a:buClr>
              <a:buSzPts val="1450"/>
              <a:buFont typeface="Fira Mono Medium"/>
              <a:buNone/>
            </a:pPr>
            <a:r>
              <a:rPr b="0" i="0" lang="en-US" sz="1450" u="none" cap="none" strike="noStrike">
                <a:solidFill>
                  <a:srgbClr val="E0D6DE"/>
                </a:solidFill>
                <a:latin typeface="Fira Mono Medium"/>
                <a:ea typeface="Fira Mono Medium"/>
                <a:cs typeface="Fira Mono Medium"/>
                <a:sym typeface="Fira Mono Medium"/>
              </a:rPr>
              <a:t>Target Hardware: STM32F4DISCOVERY</a:t>
            </a:r>
            <a:endParaRPr b="0" i="0" sz="1450" u="none" cap="none" strike="noStrike">
              <a:solidFill>
                <a:schemeClr val="dk1"/>
              </a:solidFill>
              <a:latin typeface="Calibri"/>
              <a:ea typeface="Calibri"/>
              <a:cs typeface="Calibri"/>
              <a:sym typeface="Calibri"/>
            </a:endParaRPr>
          </a:p>
        </p:txBody>
      </p:sp>
      <p:sp>
        <p:nvSpPr>
          <p:cNvPr id="65" name="Google Shape;65;p7"/>
          <p:cNvSpPr/>
          <p:nvPr/>
        </p:nvSpPr>
        <p:spPr>
          <a:xfrm>
            <a:off x="661475" y="4004965"/>
            <a:ext cx="3511264" cy="2035969"/>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E0D6DE"/>
              </a:buClr>
              <a:buSzPts val="1150"/>
              <a:buFont typeface="Fira Sans"/>
              <a:buNone/>
            </a:pPr>
            <a:r>
              <a:rPr b="0" i="0" lang="en-US" sz="1150" u="none" cap="none" strike="noStrike">
                <a:solidFill>
                  <a:srgbClr val="E0D6DE"/>
                </a:solidFill>
                <a:latin typeface="Fira Sans"/>
                <a:ea typeface="Fira Sans"/>
                <a:cs typeface="Fira Sans"/>
                <a:sym typeface="Fira Sans"/>
              </a:rPr>
              <a:t>The primary target is the STM32F4DISCOVERY board featuring the STM32F407VG microcontroller. Specifications: </a:t>
            </a:r>
            <a:r>
              <a:rPr b="1" i="0" lang="en-US" sz="1150" u="none" cap="none" strike="noStrike">
                <a:solidFill>
                  <a:srgbClr val="E0D6DE"/>
                </a:solidFill>
                <a:latin typeface="Fira Sans"/>
                <a:ea typeface="Fira Sans"/>
                <a:cs typeface="Fira Sans"/>
                <a:sym typeface="Fira Sans"/>
              </a:rPr>
              <a:t>196 KiB SRAM</a:t>
            </a:r>
            <a:r>
              <a:rPr b="0" i="0" lang="en-US" sz="1150" u="none" cap="none" strike="noStrike">
                <a:solidFill>
                  <a:srgbClr val="E0D6DE"/>
                </a:solidFill>
                <a:latin typeface="Fira Sans"/>
                <a:ea typeface="Fira Sans"/>
                <a:cs typeface="Fira Sans"/>
                <a:sym typeface="Fira Sans"/>
              </a:rPr>
              <a:t>, </a:t>
            </a:r>
            <a:r>
              <a:rPr b="1" i="0" lang="en-US" sz="1150" u="none" cap="none" strike="noStrike">
                <a:solidFill>
                  <a:srgbClr val="E0D6DE"/>
                </a:solidFill>
                <a:latin typeface="Fira Sans"/>
                <a:ea typeface="Fira Sans"/>
                <a:cs typeface="Fira Sans"/>
                <a:sym typeface="Fira Sans"/>
              </a:rPr>
              <a:t>1 MiB Flash</a:t>
            </a:r>
            <a:r>
              <a:rPr b="0" i="0" lang="en-US" sz="1150" u="none" cap="none" strike="noStrike">
                <a:solidFill>
                  <a:srgbClr val="E0D6DE"/>
                </a:solidFill>
                <a:latin typeface="Fira Sans"/>
                <a:ea typeface="Fira Sans"/>
                <a:cs typeface="Fira Sans"/>
                <a:sym typeface="Fira Sans"/>
              </a:rPr>
              <a:t>, </a:t>
            </a:r>
            <a:r>
              <a:rPr b="1" i="0" lang="en-US" sz="1150" u="none" cap="none" strike="noStrike">
                <a:solidFill>
                  <a:srgbClr val="E0D6DE"/>
                </a:solidFill>
                <a:latin typeface="Fira Sans"/>
                <a:ea typeface="Fira Sans"/>
                <a:cs typeface="Fira Sans"/>
                <a:sym typeface="Fira Sans"/>
              </a:rPr>
              <a:t>168 MHz</a:t>
            </a:r>
            <a:r>
              <a:rPr b="0" i="0" lang="en-US" sz="1150" u="none" cap="none" strike="noStrike">
                <a:solidFill>
                  <a:srgbClr val="E0D6DE"/>
                </a:solidFill>
                <a:latin typeface="Fira Sans"/>
                <a:ea typeface="Fira Sans"/>
                <a:cs typeface="Fira Sans"/>
                <a:sym typeface="Fira Sans"/>
              </a:rPr>
              <a:t> clock speed, ARM Cortex-M4F core with FPU and DSP extensions. These constraints are representative of mid-range embedded devices found in industrial and IoT deployments. A secondary target, the </a:t>
            </a:r>
            <a:r>
              <a:rPr b="1" i="0" lang="en-US" sz="1150" u="none" cap="none" strike="noStrike">
                <a:solidFill>
                  <a:srgbClr val="E0D6DE"/>
                </a:solidFill>
                <a:latin typeface="Fira Sans"/>
                <a:ea typeface="Fira Sans"/>
                <a:cs typeface="Fira Sans"/>
                <a:sym typeface="Fira Sans"/>
              </a:rPr>
              <a:t>STM32L4</a:t>
            </a:r>
            <a:r>
              <a:rPr b="0" i="0" lang="en-US" sz="1150" u="none" cap="none" strike="noStrike">
                <a:solidFill>
                  <a:srgbClr val="E0D6DE"/>
                </a:solidFill>
                <a:latin typeface="Fira Sans"/>
                <a:ea typeface="Fira Sans"/>
                <a:cs typeface="Fira Sans"/>
                <a:sym typeface="Fira Sans"/>
              </a:rPr>
              <a:t> series, represents ultra-low-power applications with tighter memory budgets.</a:t>
            </a:r>
            <a:endParaRPr b="0" i="0" sz="1150" u="none" cap="none" strike="noStrike">
              <a:solidFill>
                <a:schemeClr val="dk1"/>
              </a:solidFill>
              <a:latin typeface="Calibri"/>
              <a:ea typeface="Calibri"/>
              <a:cs typeface="Calibri"/>
              <a:sym typeface="Calibri"/>
            </a:endParaRPr>
          </a:p>
        </p:txBody>
      </p:sp>
      <p:pic>
        <p:nvPicPr>
          <p:cNvPr descr="preencoded.png" id="66" name="Google Shape;66;p7"/>
          <p:cNvPicPr preferRelativeResize="0"/>
          <p:nvPr/>
        </p:nvPicPr>
        <p:blipFill rotWithShape="1">
          <a:blip r:embed="rId4">
            <a:alphaModFix/>
          </a:blip>
          <a:srcRect b="0" l="0" r="0" t="0"/>
          <a:stretch/>
        </p:blipFill>
        <p:spPr>
          <a:xfrm>
            <a:off x="4340116" y="2159496"/>
            <a:ext cx="1832921" cy="1132780"/>
          </a:xfrm>
          <a:prstGeom prst="rect">
            <a:avLst/>
          </a:prstGeom>
          <a:noFill/>
          <a:ln>
            <a:noFill/>
          </a:ln>
        </p:spPr>
      </p:pic>
      <p:sp>
        <p:nvSpPr>
          <p:cNvPr id="67" name="Google Shape;67;p7"/>
          <p:cNvSpPr/>
          <p:nvPr/>
        </p:nvSpPr>
        <p:spPr>
          <a:xfrm>
            <a:off x="4340116" y="3459659"/>
            <a:ext cx="3511363" cy="23247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0D6DE"/>
              </a:buClr>
              <a:buSzPts val="1450"/>
              <a:buFont typeface="Fira Mono Medium"/>
              <a:buNone/>
            </a:pPr>
            <a:r>
              <a:rPr b="0" i="0" lang="en-US" sz="1450" u="none" cap="none" strike="noStrike">
                <a:solidFill>
                  <a:srgbClr val="E0D6DE"/>
                </a:solidFill>
                <a:latin typeface="Fira Mono Medium"/>
                <a:ea typeface="Fira Mono Medium"/>
                <a:cs typeface="Fira Mono Medium"/>
                <a:sym typeface="Fira Mono Medium"/>
              </a:rPr>
              <a:t>Open-Source Repository</a:t>
            </a:r>
            <a:endParaRPr b="0" i="0" sz="1450" u="none" cap="none" strike="noStrike">
              <a:solidFill>
                <a:schemeClr val="dk1"/>
              </a:solidFill>
              <a:latin typeface="Calibri"/>
              <a:ea typeface="Calibri"/>
              <a:cs typeface="Calibri"/>
              <a:sym typeface="Calibri"/>
            </a:endParaRPr>
          </a:p>
        </p:txBody>
      </p:sp>
      <p:sp>
        <p:nvSpPr>
          <p:cNvPr id="68" name="Google Shape;68;p7"/>
          <p:cNvSpPr/>
          <p:nvPr/>
        </p:nvSpPr>
        <p:spPr>
          <a:xfrm>
            <a:off x="4340116" y="3772495"/>
            <a:ext cx="3511363" cy="2488406"/>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E0D6DE"/>
              </a:buClr>
              <a:buSzPts val="1150"/>
              <a:buFont typeface="Fira Sans"/>
              <a:buNone/>
            </a:pPr>
            <a:r>
              <a:rPr b="0" i="0" lang="en-US" sz="1150" u="none" cap="none" strike="noStrike">
                <a:solidFill>
                  <a:srgbClr val="E0D6DE"/>
                </a:solidFill>
                <a:latin typeface="Fira Sans"/>
                <a:ea typeface="Fira Sans"/>
                <a:cs typeface="Fira Sans"/>
                <a:sym typeface="Fira Sans"/>
              </a:rPr>
              <a:t>The framework is publicly available at </a:t>
            </a:r>
            <a:r>
              <a:rPr b="1" i="0" lang="en-US" sz="1150" u="none" cap="none" strike="noStrike">
                <a:solidFill>
                  <a:srgbClr val="E0D6DE"/>
                </a:solidFill>
                <a:latin typeface="Fira Sans"/>
                <a:ea typeface="Fira Sans"/>
                <a:cs typeface="Fira Sans"/>
                <a:sym typeface="Fira Sans"/>
              </a:rPr>
              <a:t>github.com/mupq/pqm4</a:t>
            </a:r>
            <a:r>
              <a:rPr b="0" i="0" lang="en-US" sz="1150" u="none" cap="none" strike="noStrike">
                <a:solidFill>
                  <a:srgbClr val="E0D6DE"/>
                </a:solidFill>
                <a:latin typeface="Fira Sans"/>
                <a:ea typeface="Fira Sans"/>
                <a:cs typeface="Fira Sans"/>
                <a:sym typeface="Fira Sans"/>
              </a:rPr>
              <a:t> under a permissive licence. The repository contains optimised implementations of dozens of PQC schemes, benchmarking scripts, QEMU emulation support, and comprehensive documentation. Researchers can submit new implementations, reproduce published results, and compare algorithms side-by-side. The open-source model has been instrumental in accelerating community-driven optimisation efforts.</a:t>
            </a:r>
            <a:endParaRPr b="0" i="0" sz="1150" u="none" cap="none" strike="noStrike">
              <a:solidFill>
                <a:schemeClr val="dk1"/>
              </a:solidFill>
              <a:latin typeface="Calibri"/>
              <a:ea typeface="Calibri"/>
              <a:cs typeface="Calibri"/>
              <a:sym typeface="Calibri"/>
            </a:endParaRPr>
          </a:p>
        </p:txBody>
      </p:sp>
      <p:pic>
        <p:nvPicPr>
          <p:cNvPr descr="preencoded.png" id="69" name="Google Shape;69;p7"/>
          <p:cNvPicPr preferRelativeResize="0"/>
          <p:nvPr/>
        </p:nvPicPr>
        <p:blipFill rotWithShape="1">
          <a:blip r:embed="rId5">
            <a:alphaModFix/>
          </a:blip>
          <a:srcRect b="0" l="0" r="0" t="0"/>
          <a:stretch/>
        </p:blipFill>
        <p:spPr>
          <a:xfrm>
            <a:off x="8018857" y="2159496"/>
            <a:ext cx="1832921" cy="1132780"/>
          </a:xfrm>
          <a:prstGeom prst="rect">
            <a:avLst/>
          </a:prstGeom>
          <a:noFill/>
          <a:ln>
            <a:noFill/>
          </a:ln>
        </p:spPr>
      </p:pic>
      <p:sp>
        <p:nvSpPr>
          <p:cNvPr id="70" name="Google Shape;70;p7"/>
          <p:cNvSpPr/>
          <p:nvPr/>
        </p:nvSpPr>
        <p:spPr>
          <a:xfrm>
            <a:off x="8018857" y="3459659"/>
            <a:ext cx="3511363" cy="46493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0D6DE"/>
              </a:buClr>
              <a:buSzPts val="1450"/>
              <a:buFont typeface="Fira Mono Medium"/>
              <a:buNone/>
            </a:pPr>
            <a:r>
              <a:rPr b="0" i="0" lang="en-US" sz="1450" u="none" cap="none" strike="noStrike">
                <a:solidFill>
                  <a:srgbClr val="E0D6DE"/>
                </a:solidFill>
                <a:latin typeface="Fira Mono Medium"/>
                <a:ea typeface="Fira Mono Medium"/>
                <a:cs typeface="Fira Mono Medium"/>
                <a:sym typeface="Fira Mono Medium"/>
              </a:rPr>
              <a:t>Dedicated Benchmarking Framework</a:t>
            </a:r>
            <a:endParaRPr b="0" i="0" sz="1450" u="none" cap="none" strike="noStrike">
              <a:solidFill>
                <a:schemeClr val="dk1"/>
              </a:solidFill>
              <a:latin typeface="Calibri"/>
              <a:ea typeface="Calibri"/>
              <a:cs typeface="Calibri"/>
              <a:sym typeface="Calibri"/>
            </a:endParaRPr>
          </a:p>
        </p:txBody>
      </p:sp>
      <p:sp>
        <p:nvSpPr>
          <p:cNvPr id="71" name="Google Shape;71;p7"/>
          <p:cNvSpPr/>
          <p:nvPr/>
        </p:nvSpPr>
        <p:spPr>
          <a:xfrm>
            <a:off x="8018857" y="4004965"/>
            <a:ext cx="3511363" cy="2035969"/>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E0D6DE"/>
              </a:buClr>
              <a:buSzPts val="1150"/>
              <a:buFont typeface="Fira Sans"/>
              <a:buNone/>
            </a:pPr>
            <a:r>
              <a:rPr b="0" i="0" lang="en-US" sz="1150" u="none" cap="none" strike="noStrike">
                <a:solidFill>
                  <a:srgbClr val="E0D6DE"/>
                </a:solidFill>
                <a:latin typeface="Fira Sans"/>
                <a:ea typeface="Fira Sans"/>
                <a:cs typeface="Fira Sans"/>
                <a:sym typeface="Fira Sans"/>
              </a:rPr>
              <a:t>Unlike ad-hoc benchmarking efforts, pqm4 provides a </a:t>
            </a:r>
            <a:r>
              <a:rPr b="1" i="0" lang="en-US" sz="1150" u="none" cap="none" strike="noStrike">
                <a:solidFill>
                  <a:srgbClr val="E0D6DE"/>
                </a:solidFill>
                <a:latin typeface="Fira Sans"/>
                <a:ea typeface="Fira Sans"/>
                <a:cs typeface="Fira Sans"/>
                <a:sym typeface="Fira Sans"/>
              </a:rPr>
              <a:t>standardized methodology</a:t>
            </a:r>
            <a:r>
              <a:rPr b="0" i="0" lang="en-US" sz="1150" u="none" cap="none" strike="noStrike">
                <a:solidFill>
                  <a:srgbClr val="E0D6DE"/>
                </a:solidFill>
                <a:latin typeface="Fira Sans"/>
                <a:ea typeface="Fira Sans"/>
                <a:cs typeface="Fira Sans"/>
                <a:sym typeface="Fira Sans"/>
              </a:rPr>
              <a:t>: consistent compiler flags, deterministic cycle counting via the DWT (Data Watchpoint and Trace) unit, stack usage measurement, and code size reporting. Every algorithm is compiled, linked, and executed under identical conditions, ensuring that comparisons are fair and reproducible. Results are published as live tables on the project's GitHub pages.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8"/>
          <p:cNvSpPr/>
          <p:nvPr/>
        </p:nvSpPr>
        <p:spPr>
          <a:xfrm>
            <a:off x="661475" y="527645"/>
            <a:ext cx="10868745" cy="33069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BF3FA"/>
              </a:buClr>
              <a:buSzPts val="2050"/>
              <a:buFont typeface="Fira Mono Medium"/>
              <a:buNone/>
            </a:pPr>
            <a:r>
              <a:rPr b="0" i="0" lang="en-US" sz="2050" u="none" cap="none" strike="noStrike">
                <a:solidFill>
                  <a:srgbClr val="FBF3FA"/>
                </a:solidFill>
                <a:latin typeface="Fira Mono Medium"/>
                <a:ea typeface="Fira Mono Medium"/>
                <a:cs typeface="Fira Mono Medium"/>
                <a:sym typeface="Fira Mono Medium"/>
              </a:rPr>
              <a:t>Core Methodology</a:t>
            </a:r>
            <a:endParaRPr b="0" i="0" sz="2050" u="none" cap="none" strike="noStrike">
              <a:solidFill>
                <a:schemeClr val="dk1"/>
              </a:solidFill>
              <a:latin typeface="Calibri"/>
              <a:ea typeface="Calibri"/>
              <a:cs typeface="Calibri"/>
              <a:sym typeface="Calibri"/>
            </a:endParaRPr>
          </a:p>
        </p:txBody>
      </p:sp>
      <p:sp>
        <p:nvSpPr>
          <p:cNvPr id="78" name="Google Shape;78;p8"/>
          <p:cNvSpPr/>
          <p:nvPr/>
        </p:nvSpPr>
        <p:spPr>
          <a:xfrm>
            <a:off x="661475" y="993676"/>
            <a:ext cx="10868745" cy="277614"/>
          </a:xfrm>
          <a:prstGeom prst="rect">
            <a:avLst/>
          </a:prstGeom>
          <a:noFill/>
          <a:ln>
            <a:noFill/>
          </a:ln>
        </p:spPr>
        <p:txBody>
          <a:bodyPr anchorCtr="0" anchor="t" bIns="0" lIns="0" spcFirstLastPara="1" rIns="0" wrap="square" tIns="0">
            <a:noAutofit/>
          </a:bodyPr>
          <a:lstStyle/>
          <a:p>
            <a:pPr indent="0" lvl="0" marL="0" marR="0" rtl="0" algn="l">
              <a:lnSpc>
                <a:spcPct val="109000"/>
              </a:lnSpc>
              <a:spcBef>
                <a:spcPts val="0"/>
              </a:spcBef>
              <a:spcAft>
                <a:spcPts val="0"/>
              </a:spcAft>
              <a:buClr>
                <a:srgbClr val="E0D6DE"/>
              </a:buClr>
              <a:buSzPts val="800"/>
              <a:buFont typeface="Fira Sans"/>
              <a:buNone/>
            </a:pPr>
            <a:r>
              <a:rPr b="0" i="0" lang="en-US" sz="800" u="none" cap="none" strike="noStrike">
                <a:solidFill>
                  <a:srgbClr val="E0D6DE"/>
                </a:solidFill>
                <a:latin typeface="Fira Sans"/>
                <a:ea typeface="Fira Sans"/>
                <a:cs typeface="Fira Sans"/>
                <a:sym typeface="Fira Sans"/>
              </a:rPr>
              <a:t>The pqm4 methodology is rigorous, systematic, and designed to produce actionable data for both cryptographers and embedded systems engineers. The evaluation pipeline progresses through three distinct phases, each filtering and refining the candidate set.</a:t>
            </a:r>
            <a:endParaRPr b="0" i="0" sz="800" u="none" cap="none" strike="noStrike">
              <a:solidFill>
                <a:schemeClr val="dk1"/>
              </a:solidFill>
              <a:latin typeface="Calibri"/>
              <a:ea typeface="Calibri"/>
              <a:cs typeface="Calibri"/>
              <a:sym typeface="Calibri"/>
            </a:endParaRPr>
          </a:p>
        </p:txBody>
      </p:sp>
      <p:pic>
        <p:nvPicPr>
          <p:cNvPr descr="preencoded.png" id="79" name="Google Shape;79;p8"/>
          <p:cNvPicPr preferRelativeResize="0"/>
          <p:nvPr/>
        </p:nvPicPr>
        <p:blipFill rotWithShape="1">
          <a:blip r:embed="rId3">
            <a:alphaModFix/>
          </a:blip>
          <a:srcRect b="0" l="0" r="0" t="0"/>
          <a:stretch/>
        </p:blipFill>
        <p:spPr>
          <a:xfrm>
            <a:off x="2563550" y="1347391"/>
            <a:ext cx="7064595" cy="3101181"/>
          </a:xfrm>
          <a:prstGeom prst="rect">
            <a:avLst/>
          </a:prstGeom>
          <a:noFill/>
          <a:ln>
            <a:noFill/>
          </a:ln>
        </p:spPr>
      </p:pic>
      <p:sp>
        <p:nvSpPr>
          <p:cNvPr id="80" name="Google Shape;80;p8"/>
          <p:cNvSpPr/>
          <p:nvPr/>
        </p:nvSpPr>
        <p:spPr>
          <a:xfrm>
            <a:off x="3762020" y="3294971"/>
            <a:ext cx="1238333" cy="382736"/>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FBF3FA"/>
              </a:buClr>
              <a:buSzPts val="1200"/>
              <a:buFont typeface="Fira Mono Medium"/>
              <a:buNone/>
            </a:pPr>
            <a:r>
              <a:rPr b="0" i="0" lang="en-US" sz="1200" u="none" cap="none" strike="noStrike">
                <a:solidFill>
                  <a:srgbClr val="FBF3FA"/>
                </a:solidFill>
                <a:latin typeface="Fira Mono Medium"/>
                <a:ea typeface="Fira Mono Medium"/>
                <a:cs typeface="Fira Mono Medium"/>
                <a:sym typeface="Fira Mono Medium"/>
              </a:rPr>
              <a:t>Memory Filtering</a:t>
            </a:r>
            <a:endParaRPr b="0" i="0" sz="1200" u="none" cap="none" strike="noStrike">
              <a:solidFill>
                <a:schemeClr val="dk1"/>
              </a:solidFill>
              <a:latin typeface="Calibri"/>
              <a:ea typeface="Calibri"/>
              <a:cs typeface="Calibri"/>
              <a:sym typeface="Calibri"/>
            </a:endParaRPr>
          </a:p>
        </p:txBody>
      </p:sp>
      <p:sp>
        <p:nvSpPr>
          <p:cNvPr id="81" name="Google Shape;81;p8"/>
          <p:cNvSpPr/>
          <p:nvPr/>
        </p:nvSpPr>
        <p:spPr>
          <a:xfrm>
            <a:off x="3762020" y="3732140"/>
            <a:ext cx="1238333" cy="376357"/>
          </a:xfrm>
          <a:prstGeom prst="rect">
            <a:avLst/>
          </a:prstGeom>
          <a:no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Clr>
                <a:srgbClr val="E0D6DE"/>
              </a:buClr>
              <a:buSzPts val="950"/>
              <a:buFont typeface="Fira Sans"/>
              <a:buNone/>
            </a:pPr>
            <a:r>
              <a:rPr b="0" i="0" lang="en-US" sz="950" u="none" cap="none" strike="noStrike">
                <a:solidFill>
                  <a:srgbClr val="E0D6DE"/>
                </a:solidFill>
                <a:latin typeface="Fira Sans"/>
                <a:ea typeface="Fira Sans"/>
                <a:cs typeface="Fira Sans"/>
                <a:sym typeface="Fira Sans"/>
              </a:rPr>
              <a:t>Isolate and analyse memory usage patterns.</a:t>
            </a:r>
            <a:endParaRPr b="0" i="0" sz="950" u="none" cap="none" strike="noStrike">
              <a:solidFill>
                <a:schemeClr val="dk1"/>
              </a:solidFill>
              <a:latin typeface="Calibri"/>
              <a:ea typeface="Calibri"/>
              <a:cs typeface="Calibri"/>
              <a:sym typeface="Calibri"/>
            </a:endParaRPr>
          </a:p>
        </p:txBody>
      </p:sp>
      <p:sp>
        <p:nvSpPr>
          <p:cNvPr id="82" name="Google Shape;82;p8"/>
          <p:cNvSpPr/>
          <p:nvPr/>
        </p:nvSpPr>
        <p:spPr>
          <a:xfrm>
            <a:off x="7238877" y="3247342"/>
            <a:ext cx="1238333" cy="382736"/>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FBF3FA"/>
              </a:buClr>
              <a:buSzPts val="1200"/>
              <a:buFont typeface="Fira Mono Medium"/>
              <a:buNone/>
            </a:pPr>
            <a:r>
              <a:rPr b="0" i="0" lang="en-US" sz="1200" u="none" cap="none" strike="noStrike">
                <a:solidFill>
                  <a:srgbClr val="FBF3FA"/>
                </a:solidFill>
                <a:latin typeface="Fira Mono Medium"/>
                <a:ea typeface="Fira Mono Medium"/>
                <a:cs typeface="Fira Mono Medium"/>
                <a:sym typeface="Fira Mono Medium"/>
              </a:rPr>
              <a:t>Comparative Analysis</a:t>
            </a:r>
            <a:endParaRPr b="0" i="0" sz="1200" u="none" cap="none" strike="noStrike">
              <a:solidFill>
                <a:schemeClr val="dk1"/>
              </a:solidFill>
              <a:latin typeface="Calibri"/>
              <a:ea typeface="Calibri"/>
              <a:cs typeface="Calibri"/>
              <a:sym typeface="Calibri"/>
            </a:endParaRPr>
          </a:p>
        </p:txBody>
      </p:sp>
      <p:sp>
        <p:nvSpPr>
          <p:cNvPr id="83" name="Google Shape;83;p8"/>
          <p:cNvSpPr/>
          <p:nvPr/>
        </p:nvSpPr>
        <p:spPr>
          <a:xfrm>
            <a:off x="7238877" y="3684512"/>
            <a:ext cx="1238333" cy="376357"/>
          </a:xfrm>
          <a:prstGeom prst="rect">
            <a:avLst/>
          </a:prstGeom>
          <a:no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Clr>
                <a:srgbClr val="E0D6DE"/>
              </a:buClr>
              <a:buSzPts val="950"/>
              <a:buFont typeface="Fira Sans"/>
              <a:buNone/>
            </a:pPr>
            <a:r>
              <a:rPr b="0" i="0" lang="en-US" sz="950" u="none" cap="none" strike="noStrike">
                <a:solidFill>
                  <a:srgbClr val="E0D6DE"/>
                </a:solidFill>
                <a:latin typeface="Fira Sans"/>
                <a:ea typeface="Fira Sans"/>
                <a:cs typeface="Fira Sans"/>
                <a:sym typeface="Fira Sans"/>
              </a:rPr>
              <a:t>Compare performance metrics against benchmarks.</a:t>
            </a:r>
            <a:endParaRPr b="0" i="0" sz="950" u="none" cap="none" strike="noStrike">
              <a:solidFill>
                <a:schemeClr val="dk1"/>
              </a:solidFill>
              <a:latin typeface="Calibri"/>
              <a:ea typeface="Calibri"/>
              <a:cs typeface="Calibri"/>
              <a:sym typeface="Calibri"/>
            </a:endParaRPr>
          </a:p>
        </p:txBody>
      </p:sp>
      <p:sp>
        <p:nvSpPr>
          <p:cNvPr id="84" name="Google Shape;84;p8"/>
          <p:cNvSpPr/>
          <p:nvPr/>
        </p:nvSpPr>
        <p:spPr>
          <a:xfrm>
            <a:off x="5510655" y="1672596"/>
            <a:ext cx="1238333" cy="382736"/>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FBF3FA"/>
              </a:buClr>
              <a:buSzPts val="1200"/>
              <a:buFont typeface="Fira Mono Medium"/>
              <a:buNone/>
            </a:pPr>
            <a:r>
              <a:rPr b="0" i="0" lang="en-US" sz="1200" u="none" cap="none" strike="noStrike">
                <a:solidFill>
                  <a:srgbClr val="FBF3FA"/>
                </a:solidFill>
                <a:latin typeface="Fira Mono Medium"/>
                <a:ea typeface="Fira Mono Medium"/>
                <a:cs typeface="Fira Mono Medium"/>
                <a:sym typeface="Fira Mono Medium"/>
              </a:rPr>
              <a:t>Performance Measurement</a:t>
            </a:r>
            <a:endParaRPr b="0" i="0" sz="1200" u="none" cap="none" strike="noStrike">
              <a:solidFill>
                <a:schemeClr val="dk1"/>
              </a:solidFill>
              <a:latin typeface="Calibri"/>
              <a:ea typeface="Calibri"/>
              <a:cs typeface="Calibri"/>
              <a:sym typeface="Calibri"/>
            </a:endParaRPr>
          </a:p>
        </p:txBody>
      </p:sp>
      <p:sp>
        <p:nvSpPr>
          <p:cNvPr id="85" name="Google Shape;85;p8"/>
          <p:cNvSpPr/>
          <p:nvPr/>
        </p:nvSpPr>
        <p:spPr>
          <a:xfrm>
            <a:off x="5510655" y="2109765"/>
            <a:ext cx="1238333" cy="376357"/>
          </a:xfrm>
          <a:prstGeom prst="rect">
            <a:avLst/>
          </a:prstGeom>
          <a:noFill/>
          <a:ln>
            <a:noFill/>
          </a:ln>
        </p:spPr>
        <p:txBody>
          <a:bodyPr anchorCtr="0" anchor="t" bIns="0" lIns="0" spcFirstLastPara="1" rIns="0" wrap="square" tIns="0">
            <a:noAutofit/>
          </a:bodyPr>
          <a:lstStyle/>
          <a:p>
            <a:pPr indent="0" lvl="0" marL="0" marR="0" rtl="0" algn="ctr">
              <a:lnSpc>
                <a:spcPct val="85000"/>
              </a:lnSpc>
              <a:spcBef>
                <a:spcPts val="0"/>
              </a:spcBef>
              <a:spcAft>
                <a:spcPts val="0"/>
              </a:spcAft>
              <a:buClr>
                <a:srgbClr val="E0D6DE"/>
              </a:buClr>
              <a:buSzPts val="950"/>
              <a:buFont typeface="Fira Sans"/>
              <a:buNone/>
            </a:pPr>
            <a:r>
              <a:rPr b="0" i="0" lang="en-US" sz="950" u="none" cap="none" strike="noStrike">
                <a:solidFill>
                  <a:srgbClr val="E0D6DE"/>
                </a:solidFill>
                <a:latin typeface="Fira Sans"/>
                <a:ea typeface="Fira Sans"/>
                <a:cs typeface="Fira Sans"/>
                <a:sym typeface="Fira Sans"/>
              </a:rPr>
              <a:t>Measure the system's speed and responsiveness.</a:t>
            </a:r>
            <a:endParaRPr b="0" i="0" sz="950" u="none" cap="none" strike="noStrike">
              <a:solidFill>
                <a:schemeClr val="dk1"/>
              </a:solidFill>
              <a:latin typeface="Calibri"/>
              <a:ea typeface="Calibri"/>
              <a:cs typeface="Calibri"/>
              <a:sym typeface="Calibri"/>
            </a:endParaRPr>
          </a:p>
        </p:txBody>
      </p:sp>
      <p:sp>
        <p:nvSpPr>
          <p:cNvPr id="86" name="Google Shape;86;p8"/>
          <p:cNvSpPr/>
          <p:nvPr/>
        </p:nvSpPr>
        <p:spPr>
          <a:xfrm>
            <a:off x="661475" y="4524673"/>
            <a:ext cx="11478330" cy="138807"/>
          </a:xfrm>
          <a:prstGeom prst="rect">
            <a:avLst/>
          </a:prstGeom>
          <a:noFill/>
          <a:ln>
            <a:noFill/>
          </a:ln>
        </p:spPr>
        <p:txBody>
          <a:bodyPr anchorCtr="0" anchor="t" bIns="0" lIns="0" spcFirstLastPara="1" rIns="0" wrap="square" tIns="0">
            <a:noAutofit/>
          </a:bodyPr>
          <a:lstStyle/>
          <a:p>
            <a:pPr indent="0" lvl="0" marL="0" marR="0" rtl="0" algn="l">
              <a:lnSpc>
                <a:spcPct val="109000"/>
              </a:lnSpc>
              <a:spcBef>
                <a:spcPts val="0"/>
              </a:spcBef>
              <a:spcAft>
                <a:spcPts val="0"/>
              </a:spcAft>
              <a:buClr>
                <a:srgbClr val="E0D6DE"/>
              </a:buClr>
              <a:buSzPts val="800"/>
              <a:buFont typeface="Fira Sans"/>
              <a:buNone/>
            </a:pPr>
            <a:r>
              <a:rPr b="0" i="0" lang="en-US" sz="800" u="none" cap="none" strike="noStrike">
                <a:solidFill>
                  <a:srgbClr val="E0D6DE"/>
                </a:solidFill>
                <a:latin typeface="Fira Sans"/>
                <a:ea typeface="Fira Sans"/>
                <a:cs typeface="Fira Sans"/>
                <a:sym typeface="Fira Sans"/>
              </a:rPr>
              <a:t>The three-phase pipeline ensures that only practically deployable schemes advance through the evaluation, with each phase applying increasingly stringent criteria to narrow down viable candidates for embedded deployment.</a:t>
            </a:r>
            <a:endParaRPr b="0" i="0" sz="800" u="none" cap="none" strike="noStrike">
              <a:solidFill>
                <a:schemeClr val="dk1"/>
              </a:solidFill>
              <a:latin typeface="Calibri"/>
              <a:ea typeface="Calibri"/>
              <a:cs typeface="Calibri"/>
              <a:sym typeface="Calibri"/>
            </a:endParaRPr>
          </a:p>
        </p:txBody>
      </p:sp>
      <p:sp>
        <p:nvSpPr>
          <p:cNvPr id="87" name="Google Shape;87;p8"/>
          <p:cNvSpPr/>
          <p:nvPr/>
        </p:nvSpPr>
        <p:spPr>
          <a:xfrm>
            <a:off x="661475" y="4807248"/>
            <a:ext cx="5305292" cy="16529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BF3FA"/>
              </a:buClr>
              <a:buSzPts val="1000"/>
              <a:buFont typeface="Fira Mono Medium"/>
              <a:buNone/>
            </a:pPr>
            <a:r>
              <a:rPr b="0" i="0" lang="en-US" sz="1000" u="none" cap="none" strike="noStrike">
                <a:solidFill>
                  <a:srgbClr val="FBF3FA"/>
                </a:solidFill>
                <a:latin typeface="Fira Mono Medium"/>
                <a:ea typeface="Fira Mono Medium"/>
                <a:cs typeface="Fira Mono Medium"/>
                <a:sym typeface="Fira Mono Medium"/>
              </a:rPr>
              <a:t>Phase 1: Memory Filtering</a:t>
            </a:r>
            <a:endParaRPr b="0" i="0" sz="1000" u="none" cap="none" strike="noStrike">
              <a:solidFill>
                <a:schemeClr val="dk1"/>
              </a:solidFill>
              <a:latin typeface="Calibri"/>
              <a:ea typeface="Calibri"/>
              <a:cs typeface="Calibri"/>
              <a:sym typeface="Calibri"/>
            </a:endParaRPr>
          </a:p>
        </p:txBody>
      </p:sp>
      <p:sp>
        <p:nvSpPr>
          <p:cNvPr id="88" name="Google Shape;88;p8"/>
          <p:cNvSpPr/>
          <p:nvPr/>
        </p:nvSpPr>
        <p:spPr>
          <a:xfrm>
            <a:off x="661475" y="5040213"/>
            <a:ext cx="5305292" cy="832842"/>
          </a:xfrm>
          <a:prstGeom prst="rect">
            <a:avLst/>
          </a:prstGeom>
          <a:noFill/>
          <a:ln>
            <a:noFill/>
          </a:ln>
        </p:spPr>
        <p:txBody>
          <a:bodyPr anchorCtr="0" anchor="t" bIns="0" lIns="0" spcFirstLastPara="1" rIns="0" wrap="square" tIns="0">
            <a:noAutofit/>
          </a:bodyPr>
          <a:lstStyle/>
          <a:p>
            <a:pPr indent="0" lvl="0" marL="0" marR="0" rtl="0" algn="l">
              <a:lnSpc>
                <a:spcPct val="109000"/>
              </a:lnSpc>
              <a:spcBef>
                <a:spcPts val="0"/>
              </a:spcBef>
              <a:spcAft>
                <a:spcPts val="0"/>
              </a:spcAft>
              <a:buClr>
                <a:srgbClr val="E0D6DE"/>
              </a:buClr>
              <a:buSzPts val="800"/>
              <a:buFont typeface="Fira Sans"/>
              <a:buNone/>
            </a:pPr>
            <a:r>
              <a:rPr b="0" i="0" lang="en-US" sz="800" u="none" cap="none" strike="noStrike">
                <a:solidFill>
                  <a:srgbClr val="E0D6DE"/>
                </a:solidFill>
                <a:latin typeface="Fira Sans"/>
                <a:ea typeface="Fira Sans"/>
                <a:cs typeface="Fira Sans"/>
                <a:sym typeface="Fira Sans"/>
              </a:rPr>
              <a:t>Before any performance measurement occurs, pqm4 performs a </a:t>
            </a:r>
            <a:r>
              <a:rPr b="1" i="0" lang="en-US" sz="800" u="none" cap="none" strike="noStrike">
                <a:solidFill>
                  <a:srgbClr val="E0D6DE"/>
                </a:solidFill>
                <a:latin typeface="Fira Sans"/>
                <a:ea typeface="Fira Sans"/>
                <a:cs typeface="Fira Sans"/>
                <a:sym typeface="Fira Sans"/>
              </a:rPr>
              <a:t>static memory analysis</a:t>
            </a:r>
            <a:r>
              <a:rPr b="0" i="0" lang="en-US" sz="800" u="none" cap="none" strike="noStrike">
                <a:solidFill>
                  <a:srgbClr val="E0D6DE"/>
                </a:solidFill>
                <a:latin typeface="Fira Sans"/>
                <a:ea typeface="Fira Sans"/>
                <a:cs typeface="Fira Sans"/>
                <a:sym typeface="Fira Sans"/>
              </a:rPr>
              <a:t>. Each scheme's implementation is compiled and its RAM and Flash requirements are measured. Schemes that exceed the 196 KiB RAM or 1 MiB Flash limits are excluded from further evaluation. This filter is critical: many NIST candidates — particularly early-round code-based and multivariate schemes — require megabytes of RAM and are immediately disqualified for Cortex-M4 deployment. This phase alone eliminates a significant portion of the candidate pool.</a:t>
            </a:r>
            <a:endParaRPr b="0" i="0" sz="800" u="none" cap="none" strike="noStrike">
              <a:solidFill>
                <a:schemeClr val="dk1"/>
              </a:solidFill>
              <a:latin typeface="Calibri"/>
              <a:ea typeface="Calibri"/>
              <a:cs typeface="Calibri"/>
              <a:sym typeface="Calibri"/>
            </a:endParaRPr>
          </a:p>
        </p:txBody>
      </p:sp>
      <p:sp>
        <p:nvSpPr>
          <p:cNvPr id="89" name="Google Shape;89;p8"/>
          <p:cNvSpPr/>
          <p:nvPr/>
        </p:nvSpPr>
        <p:spPr>
          <a:xfrm>
            <a:off x="6231278" y="4807248"/>
            <a:ext cx="5305292" cy="16529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BF3FA"/>
              </a:buClr>
              <a:buSzPts val="1000"/>
              <a:buFont typeface="Fira Mono Medium"/>
              <a:buNone/>
            </a:pPr>
            <a:r>
              <a:rPr b="0" i="0" lang="en-US" sz="1000" u="none" cap="none" strike="noStrike">
                <a:solidFill>
                  <a:srgbClr val="FBF3FA"/>
                </a:solidFill>
                <a:latin typeface="Fira Mono Medium"/>
                <a:ea typeface="Fira Mono Medium"/>
                <a:cs typeface="Fira Mono Medium"/>
                <a:sym typeface="Fira Mono Medium"/>
              </a:rPr>
              <a:t>Phase 2: Performance Measurement</a:t>
            </a:r>
            <a:endParaRPr b="0" i="0" sz="1000" u="none" cap="none" strike="noStrike">
              <a:solidFill>
                <a:schemeClr val="dk1"/>
              </a:solidFill>
              <a:latin typeface="Calibri"/>
              <a:ea typeface="Calibri"/>
              <a:cs typeface="Calibri"/>
              <a:sym typeface="Calibri"/>
            </a:endParaRPr>
          </a:p>
        </p:txBody>
      </p:sp>
      <p:sp>
        <p:nvSpPr>
          <p:cNvPr id="90" name="Google Shape;90;p8"/>
          <p:cNvSpPr/>
          <p:nvPr/>
        </p:nvSpPr>
        <p:spPr>
          <a:xfrm>
            <a:off x="6231278" y="5040213"/>
            <a:ext cx="5305292" cy="832842"/>
          </a:xfrm>
          <a:prstGeom prst="rect">
            <a:avLst/>
          </a:prstGeom>
          <a:noFill/>
          <a:ln>
            <a:noFill/>
          </a:ln>
        </p:spPr>
        <p:txBody>
          <a:bodyPr anchorCtr="0" anchor="t" bIns="0" lIns="0" spcFirstLastPara="1" rIns="0" wrap="square" tIns="0">
            <a:noAutofit/>
          </a:bodyPr>
          <a:lstStyle/>
          <a:p>
            <a:pPr indent="0" lvl="0" marL="0" marR="0" rtl="0" algn="l">
              <a:lnSpc>
                <a:spcPct val="109000"/>
              </a:lnSpc>
              <a:spcBef>
                <a:spcPts val="0"/>
              </a:spcBef>
              <a:spcAft>
                <a:spcPts val="0"/>
              </a:spcAft>
              <a:buClr>
                <a:srgbClr val="E0D6DE"/>
              </a:buClr>
              <a:buSzPts val="800"/>
              <a:buFont typeface="Fira Sans"/>
              <a:buNone/>
            </a:pPr>
            <a:r>
              <a:rPr b="0" i="0" lang="en-US" sz="800" u="none" cap="none" strike="noStrike">
                <a:solidFill>
                  <a:srgbClr val="E0D6DE"/>
                </a:solidFill>
                <a:latin typeface="Fira Sans"/>
                <a:ea typeface="Fira Sans"/>
                <a:cs typeface="Fira Sans"/>
                <a:sym typeface="Fira Sans"/>
              </a:rPr>
              <a:t>Schemes that pass the memory filter undergo exhaustive performance measurement. pqm4 uses the 24-bit SysTick counter instead of Cortex-M4's </a:t>
            </a:r>
            <a:r>
              <a:rPr b="1" i="0" lang="en-US" sz="800" u="none" cap="none" strike="noStrike">
                <a:solidFill>
                  <a:srgbClr val="E0D6DE"/>
                </a:solidFill>
                <a:latin typeface="Fira Sans"/>
                <a:ea typeface="Fira Sans"/>
                <a:cs typeface="Fira Sans"/>
                <a:sym typeface="Fira Sans"/>
              </a:rPr>
              <a:t>DWT cycle counter</a:t>
            </a:r>
            <a:r>
              <a:rPr b="0" i="0" lang="en-US" sz="800" u="none" cap="none" strike="noStrike">
                <a:solidFill>
                  <a:srgbClr val="E0D6DE"/>
                </a:solidFill>
                <a:latin typeface="Fira Sans"/>
                <a:ea typeface="Fira Sans"/>
                <a:cs typeface="Fira Sans"/>
                <a:sym typeface="Fira Sans"/>
              </a:rPr>
              <a:t> to measure clock cycles for each cryptographic operation with cycle-accurate precision. Measurements cover: </a:t>
            </a:r>
            <a:r>
              <a:rPr b="1" i="0" lang="en-US" sz="800" u="none" cap="none" strike="noStrike">
                <a:solidFill>
                  <a:srgbClr val="E0D6DE"/>
                </a:solidFill>
                <a:latin typeface="Fira Sans"/>
                <a:ea typeface="Fira Sans"/>
                <a:cs typeface="Fira Sans"/>
                <a:sym typeface="Fira Sans"/>
              </a:rPr>
              <a:t>Key Generation</a:t>
            </a:r>
            <a:r>
              <a:rPr b="0" i="0" lang="en-US" sz="800" u="none" cap="none" strike="noStrike">
                <a:solidFill>
                  <a:srgbClr val="E0D6DE"/>
                </a:solidFill>
                <a:latin typeface="Fira Sans"/>
                <a:ea typeface="Fira Sans"/>
                <a:cs typeface="Fira Sans"/>
                <a:sym typeface="Fira Sans"/>
              </a:rPr>
              <a:t>, </a:t>
            </a:r>
            <a:r>
              <a:rPr b="1" i="0" lang="en-US" sz="800" u="none" cap="none" strike="noStrike">
                <a:solidFill>
                  <a:srgbClr val="E0D6DE"/>
                </a:solidFill>
                <a:latin typeface="Fira Sans"/>
                <a:ea typeface="Fira Sans"/>
                <a:cs typeface="Fira Sans"/>
                <a:sym typeface="Fira Sans"/>
              </a:rPr>
              <a:t>Encapsulation / Decapsulation</a:t>
            </a:r>
            <a:r>
              <a:rPr b="0" i="0" lang="en-US" sz="800" u="none" cap="none" strike="noStrike">
                <a:solidFill>
                  <a:srgbClr val="E0D6DE"/>
                </a:solidFill>
                <a:latin typeface="Fira Sans"/>
                <a:ea typeface="Fira Sans"/>
                <a:cs typeface="Fira Sans"/>
                <a:sym typeface="Fira Sans"/>
              </a:rPr>
              <a:t> (for KEMs) or </a:t>
            </a:r>
            <a:r>
              <a:rPr b="1" i="0" lang="en-US" sz="800" u="none" cap="none" strike="noStrike">
                <a:solidFill>
                  <a:srgbClr val="E0D6DE"/>
                </a:solidFill>
                <a:latin typeface="Fira Sans"/>
                <a:ea typeface="Fira Sans"/>
                <a:cs typeface="Fira Sans"/>
                <a:sym typeface="Fira Sans"/>
              </a:rPr>
              <a:t>Signing / Verification</a:t>
            </a:r>
            <a:r>
              <a:rPr b="0" i="0" lang="en-US" sz="800" u="none" cap="none" strike="noStrike">
                <a:solidFill>
                  <a:srgbClr val="E0D6DE"/>
                </a:solidFill>
                <a:latin typeface="Fira Sans"/>
                <a:ea typeface="Fira Sans"/>
                <a:cs typeface="Fira Sans"/>
                <a:sym typeface="Fira Sans"/>
              </a:rPr>
              <a:t> (for signatures), </a:t>
            </a:r>
            <a:r>
              <a:rPr b="1" i="0" lang="en-US" sz="800" u="none" cap="none" strike="noStrike">
                <a:solidFill>
                  <a:srgbClr val="E0D6DE"/>
                </a:solidFill>
                <a:latin typeface="Fira Sans"/>
                <a:ea typeface="Fira Sans"/>
                <a:cs typeface="Fira Sans"/>
                <a:sym typeface="Fira Sans"/>
              </a:rPr>
              <a:t>Stack Usage</a:t>
            </a:r>
            <a:r>
              <a:rPr b="0" i="0" lang="en-US" sz="800" u="none" cap="none" strike="noStrike">
                <a:solidFill>
                  <a:srgbClr val="E0D6DE"/>
                </a:solidFill>
                <a:latin typeface="Fira Sans"/>
                <a:ea typeface="Fira Sans"/>
                <a:cs typeface="Fira Sans"/>
                <a:sym typeface="Fira Sans"/>
              </a:rPr>
              <a:t> (peak RAM consumption during operation), and </a:t>
            </a:r>
            <a:r>
              <a:rPr b="1" i="0" lang="en-US" sz="800" u="none" cap="none" strike="noStrike">
                <a:solidFill>
                  <a:srgbClr val="E0D6DE"/>
                </a:solidFill>
                <a:latin typeface="Fira Sans"/>
                <a:ea typeface="Fira Sans"/>
                <a:cs typeface="Fira Sans"/>
                <a:sym typeface="Fira Sans"/>
              </a:rPr>
              <a:t>Code Size</a:t>
            </a:r>
            <a:r>
              <a:rPr b="0" i="0" lang="en-US" sz="800" u="none" cap="none" strike="noStrike">
                <a:solidFill>
                  <a:srgbClr val="E0D6DE"/>
                </a:solidFill>
                <a:latin typeface="Fira Sans"/>
                <a:ea typeface="Fira Sans"/>
                <a:cs typeface="Fira Sans"/>
                <a:sym typeface="Fira Sans"/>
              </a:rPr>
              <a:t> (Flash footprint). Each measurement is repeated multiple times to account for variance, and results are reported as median cycle counts.</a:t>
            </a:r>
            <a:endParaRPr b="0" i="0" sz="800" u="none" cap="none" strike="noStrike">
              <a:solidFill>
                <a:schemeClr val="dk1"/>
              </a:solidFill>
              <a:latin typeface="Calibri"/>
              <a:ea typeface="Calibri"/>
              <a:cs typeface="Calibri"/>
              <a:sym typeface="Calibri"/>
            </a:endParaRPr>
          </a:p>
        </p:txBody>
      </p:sp>
      <p:sp>
        <p:nvSpPr>
          <p:cNvPr id="91" name="Google Shape;91;p8"/>
          <p:cNvSpPr/>
          <p:nvPr/>
        </p:nvSpPr>
        <p:spPr>
          <a:xfrm>
            <a:off x="661475" y="6010077"/>
            <a:ext cx="10868745" cy="320179"/>
          </a:xfrm>
          <a:prstGeom prst="roundRect">
            <a:avLst>
              <a:gd fmla="val 4958" name="adj"/>
            </a:avLst>
          </a:prstGeom>
          <a:solidFill>
            <a:srgbClr val="8000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2" name="Google Shape;92;p8"/>
          <p:cNvPicPr preferRelativeResize="0"/>
          <p:nvPr/>
        </p:nvPicPr>
        <p:blipFill rotWithShape="1">
          <a:blip r:embed="rId4">
            <a:alphaModFix/>
          </a:blip>
          <a:srcRect b="0" l="0" r="0" t="0"/>
          <a:stretch/>
        </p:blipFill>
        <p:spPr>
          <a:xfrm>
            <a:off x="767239" y="6144915"/>
            <a:ext cx="132255" cy="105767"/>
          </a:xfrm>
          <a:prstGeom prst="rect">
            <a:avLst/>
          </a:prstGeom>
          <a:noFill/>
          <a:ln>
            <a:noFill/>
          </a:ln>
        </p:spPr>
      </p:pic>
      <p:sp>
        <p:nvSpPr>
          <p:cNvPr id="93" name="Google Shape;93;p8"/>
          <p:cNvSpPr/>
          <p:nvPr/>
        </p:nvSpPr>
        <p:spPr>
          <a:xfrm>
            <a:off x="1005259" y="6104136"/>
            <a:ext cx="11028781" cy="138807"/>
          </a:xfrm>
          <a:prstGeom prst="rect">
            <a:avLst/>
          </a:prstGeom>
          <a:noFill/>
          <a:ln>
            <a:noFill/>
          </a:ln>
        </p:spPr>
        <p:txBody>
          <a:bodyPr anchorCtr="0" anchor="t" bIns="0" lIns="0" spcFirstLastPara="1" rIns="0" wrap="square" tIns="0">
            <a:noAutofit/>
          </a:bodyPr>
          <a:lstStyle/>
          <a:p>
            <a:pPr indent="0" lvl="0" marL="0" marR="0" rtl="0" algn="l">
              <a:lnSpc>
                <a:spcPct val="109000"/>
              </a:lnSpc>
              <a:spcBef>
                <a:spcPts val="0"/>
              </a:spcBef>
              <a:spcAft>
                <a:spcPts val="0"/>
              </a:spcAft>
              <a:buClr>
                <a:srgbClr val="FFFFFF"/>
              </a:buClr>
              <a:buSzPts val="800"/>
              <a:buFont typeface="Fira Sans"/>
              <a:buNone/>
            </a:pPr>
            <a:r>
              <a:rPr b="1" i="0" lang="en-US" sz="800" u="none" cap="none" strike="noStrike">
                <a:solidFill>
                  <a:srgbClr val="FFFFFF"/>
                </a:solidFill>
                <a:latin typeface="Fira Sans"/>
                <a:ea typeface="Fira Sans"/>
                <a:cs typeface="Fira Sans"/>
                <a:sym typeface="Fira Sans"/>
              </a:rPr>
              <a:t>Phase 3: Comparative Analysis</a:t>
            </a:r>
            <a:r>
              <a:rPr b="0" i="0" lang="en-US" sz="800" u="none" cap="none" strike="noStrike">
                <a:solidFill>
                  <a:srgbClr val="FFFFFF"/>
                </a:solidFill>
                <a:latin typeface="Fira Sans"/>
                <a:ea typeface="Fira Sans"/>
                <a:cs typeface="Fira Sans"/>
                <a:sym typeface="Fira Sans"/>
              </a:rPr>
              <a:t> — Results are aggregated across all schemes and categorised by NIST security level (Level 1 through Level 5). </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9"/>
          <p:cNvSpPr/>
          <p:nvPr/>
        </p:nvSpPr>
        <p:spPr>
          <a:xfrm>
            <a:off x="661475" y="537964"/>
            <a:ext cx="10868745" cy="41344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BF3FA"/>
              </a:buClr>
              <a:buSzPts val="2600"/>
              <a:buFont typeface="Fira Mono Medium"/>
              <a:buNone/>
            </a:pPr>
            <a:r>
              <a:rPr b="0" i="0" lang="en-US" sz="2600" u="none" cap="none" strike="noStrike">
                <a:solidFill>
                  <a:srgbClr val="FBF3FA"/>
                </a:solidFill>
                <a:latin typeface="Fira Mono Medium"/>
                <a:ea typeface="Fira Mono Medium"/>
                <a:cs typeface="Fira Mono Medium"/>
                <a:sym typeface="Fira Mono Medium"/>
              </a:rPr>
              <a:t>Features of pqm4</a:t>
            </a:r>
            <a:endParaRPr b="0" i="0" sz="2600" u="none" cap="none" strike="noStrike">
              <a:solidFill>
                <a:schemeClr val="dk1"/>
              </a:solidFill>
              <a:latin typeface="Calibri"/>
              <a:ea typeface="Calibri"/>
              <a:cs typeface="Calibri"/>
              <a:sym typeface="Calibri"/>
            </a:endParaRPr>
          </a:p>
        </p:txBody>
      </p:sp>
      <p:sp>
        <p:nvSpPr>
          <p:cNvPr id="100" name="Google Shape;100;p9"/>
          <p:cNvSpPr/>
          <p:nvPr/>
        </p:nvSpPr>
        <p:spPr>
          <a:xfrm>
            <a:off x="661475" y="1163042"/>
            <a:ext cx="10868745" cy="381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0D6DE"/>
              </a:buClr>
              <a:buSzPts val="1000"/>
              <a:buFont typeface="Fira Sans"/>
              <a:buNone/>
            </a:pPr>
            <a:r>
              <a:rPr b="0" i="0" lang="en-US" sz="1000" u="none" cap="none" strike="noStrike">
                <a:solidFill>
                  <a:srgbClr val="E0D6DE"/>
                </a:solidFill>
                <a:latin typeface="Fira Sans"/>
                <a:ea typeface="Fira Sans"/>
                <a:cs typeface="Fira Sans"/>
                <a:sym typeface="Fira Sans"/>
              </a:rPr>
              <a:t>pqm4 is not merely a collection of benchmarks — it is a full-featured research infrastructure with capabilities that extend well beyond basic performance measurement. Its design reflects years of iterative improvement driven by the needs of the PQC research community.</a:t>
            </a:r>
            <a:endParaRPr b="0" i="0" sz="1000" u="none" cap="none" strike="noStrike">
              <a:solidFill>
                <a:schemeClr val="dk1"/>
              </a:solidFill>
              <a:latin typeface="Calibri"/>
              <a:ea typeface="Calibri"/>
              <a:cs typeface="Calibri"/>
              <a:sym typeface="Calibri"/>
            </a:endParaRPr>
          </a:p>
        </p:txBody>
      </p:sp>
      <p:sp>
        <p:nvSpPr>
          <p:cNvPr id="101" name="Google Shape;101;p9"/>
          <p:cNvSpPr/>
          <p:nvPr/>
        </p:nvSpPr>
        <p:spPr>
          <a:xfrm>
            <a:off x="661475" y="1663105"/>
            <a:ext cx="5381490" cy="2180332"/>
          </a:xfrm>
          <a:prstGeom prst="roundRect">
            <a:avLst>
              <a:gd fmla="val 910" name="adj"/>
            </a:avLst>
          </a:prstGeom>
          <a:solidFill>
            <a:srgbClr val="2E2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9"/>
          <p:cNvSpPr/>
          <p:nvPr/>
        </p:nvSpPr>
        <p:spPr>
          <a:xfrm>
            <a:off x="793730" y="1795363"/>
            <a:ext cx="396865" cy="396875"/>
          </a:xfrm>
          <a:prstGeom prst="ellipse">
            <a:avLst/>
          </a:prstGeom>
          <a:solidFill>
            <a:srgbClr val="FF6B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3" name="Google Shape;103;p9"/>
          <p:cNvPicPr preferRelativeResize="0"/>
          <p:nvPr/>
        </p:nvPicPr>
        <p:blipFill rotWithShape="1">
          <a:blip r:embed="rId3">
            <a:alphaModFix/>
          </a:blip>
          <a:srcRect b="0" l="0" r="0" t="0"/>
          <a:stretch/>
        </p:blipFill>
        <p:spPr>
          <a:xfrm>
            <a:off x="902868" y="1904504"/>
            <a:ext cx="178589" cy="178594"/>
          </a:xfrm>
          <a:prstGeom prst="rect">
            <a:avLst/>
          </a:prstGeom>
          <a:noFill/>
          <a:ln>
            <a:noFill/>
          </a:ln>
        </p:spPr>
      </p:pic>
      <p:sp>
        <p:nvSpPr>
          <p:cNvPr id="104" name="Google Shape;104;p9"/>
          <p:cNvSpPr/>
          <p:nvPr/>
        </p:nvSpPr>
        <p:spPr>
          <a:xfrm>
            <a:off x="793730" y="2298005"/>
            <a:ext cx="5116980" cy="20667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0D6DE"/>
              </a:buClr>
              <a:buSzPts val="1300"/>
              <a:buFont typeface="Fira Mono Medium"/>
              <a:buNone/>
            </a:pPr>
            <a:r>
              <a:rPr b="0" i="0" lang="en-US" sz="1300" u="none" cap="none" strike="noStrike">
                <a:solidFill>
                  <a:srgbClr val="E0D6DE"/>
                </a:solidFill>
                <a:latin typeface="Fira Mono Medium"/>
                <a:ea typeface="Fira Mono Medium"/>
                <a:cs typeface="Fira Mono Medium"/>
                <a:sym typeface="Fira Mono Medium"/>
              </a:rPr>
              <a:t>Automated Testing &amp; CI</a:t>
            </a:r>
            <a:endParaRPr b="0" i="0" sz="1300" u="none" cap="none" strike="noStrike">
              <a:solidFill>
                <a:schemeClr val="dk1"/>
              </a:solidFill>
              <a:latin typeface="Calibri"/>
              <a:ea typeface="Calibri"/>
              <a:cs typeface="Calibri"/>
              <a:sym typeface="Calibri"/>
            </a:endParaRPr>
          </a:p>
        </p:txBody>
      </p:sp>
      <p:sp>
        <p:nvSpPr>
          <p:cNvPr id="105" name="Google Shape;105;p9"/>
          <p:cNvSpPr/>
          <p:nvPr/>
        </p:nvSpPr>
        <p:spPr>
          <a:xfrm>
            <a:off x="793730" y="2568178"/>
            <a:ext cx="5116980" cy="1143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0D6DE"/>
              </a:buClr>
              <a:buSzPts val="1000"/>
              <a:buFont typeface="Fira Sans"/>
              <a:buNone/>
            </a:pPr>
            <a:r>
              <a:rPr b="0" i="0" lang="en-US" sz="1000" u="none" cap="none" strike="noStrike">
                <a:solidFill>
                  <a:srgbClr val="E0D6DE"/>
                </a:solidFill>
                <a:latin typeface="Fira Sans"/>
                <a:ea typeface="Fira Sans"/>
                <a:cs typeface="Fira Sans"/>
                <a:sym typeface="Fira Sans"/>
              </a:rPr>
              <a:t>pqm4 integrates with continuous integration pipelines, automatically testing new implementations against a comprehensive test vector suite. When a contributor submits a new optimised implementation, the CI system compiles it for all target platforms, runs functional correctness tests using NIST-provided test vectors, and benchmarks performance. This automation ensures that the repository maintains high quality and that performance regressions are caught immediately.</a:t>
            </a:r>
            <a:endParaRPr b="0" i="0" sz="1000" u="none" cap="none" strike="noStrike">
              <a:solidFill>
                <a:schemeClr val="dk1"/>
              </a:solidFill>
              <a:latin typeface="Calibri"/>
              <a:ea typeface="Calibri"/>
              <a:cs typeface="Calibri"/>
              <a:sym typeface="Calibri"/>
            </a:endParaRPr>
          </a:p>
        </p:txBody>
      </p:sp>
      <p:sp>
        <p:nvSpPr>
          <p:cNvPr id="106" name="Google Shape;106;p9"/>
          <p:cNvSpPr/>
          <p:nvPr/>
        </p:nvSpPr>
        <p:spPr>
          <a:xfrm>
            <a:off x="6148730" y="1663105"/>
            <a:ext cx="5381490" cy="2180332"/>
          </a:xfrm>
          <a:prstGeom prst="roundRect">
            <a:avLst>
              <a:gd fmla="val 910" name="adj"/>
            </a:avLst>
          </a:prstGeom>
          <a:solidFill>
            <a:srgbClr val="2E2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9"/>
          <p:cNvSpPr/>
          <p:nvPr/>
        </p:nvSpPr>
        <p:spPr>
          <a:xfrm>
            <a:off x="6280985" y="1795363"/>
            <a:ext cx="396865" cy="396875"/>
          </a:xfrm>
          <a:prstGeom prst="ellipse">
            <a:avLst/>
          </a:prstGeom>
          <a:solidFill>
            <a:srgbClr val="FF6B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8" name="Google Shape;108;p9"/>
          <p:cNvPicPr preferRelativeResize="0"/>
          <p:nvPr/>
        </p:nvPicPr>
        <p:blipFill rotWithShape="1">
          <a:blip r:embed="rId4">
            <a:alphaModFix/>
          </a:blip>
          <a:srcRect b="0" l="0" r="0" t="0"/>
          <a:stretch/>
        </p:blipFill>
        <p:spPr>
          <a:xfrm>
            <a:off x="6390123" y="1904504"/>
            <a:ext cx="178589" cy="178594"/>
          </a:xfrm>
          <a:prstGeom prst="rect">
            <a:avLst/>
          </a:prstGeom>
          <a:noFill/>
          <a:ln>
            <a:noFill/>
          </a:ln>
        </p:spPr>
      </p:pic>
      <p:sp>
        <p:nvSpPr>
          <p:cNvPr id="109" name="Google Shape;109;p9"/>
          <p:cNvSpPr/>
          <p:nvPr/>
        </p:nvSpPr>
        <p:spPr>
          <a:xfrm>
            <a:off x="6280985" y="2298005"/>
            <a:ext cx="5116980" cy="20667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0D6DE"/>
              </a:buClr>
              <a:buSzPts val="1300"/>
              <a:buFont typeface="Fira Mono Medium"/>
              <a:buNone/>
            </a:pPr>
            <a:r>
              <a:rPr b="0" i="0" lang="en-US" sz="1300" u="none" cap="none" strike="noStrike">
                <a:solidFill>
                  <a:srgbClr val="E0D6DE"/>
                </a:solidFill>
                <a:latin typeface="Fira Mono Medium"/>
                <a:ea typeface="Fira Mono Medium"/>
                <a:cs typeface="Fira Mono Medium"/>
                <a:sym typeface="Fira Mono Medium"/>
              </a:rPr>
              <a:t>Multi-Platform Support</a:t>
            </a:r>
            <a:endParaRPr b="0" i="0" sz="1300" u="none" cap="none" strike="noStrike">
              <a:solidFill>
                <a:schemeClr val="dk1"/>
              </a:solidFill>
              <a:latin typeface="Calibri"/>
              <a:ea typeface="Calibri"/>
              <a:cs typeface="Calibri"/>
              <a:sym typeface="Calibri"/>
            </a:endParaRPr>
          </a:p>
        </p:txBody>
      </p:sp>
      <p:sp>
        <p:nvSpPr>
          <p:cNvPr id="110" name="Google Shape;110;p9"/>
          <p:cNvSpPr/>
          <p:nvPr/>
        </p:nvSpPr>
        <p:spPr>
          <a:xfrm>
            <a:off x="6280985" y="2568178"/>
            <a:ext cx="5116980" cy="1143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0D6DE"/>
              </a:buClr>
              <a:buSzPts val="1000"/>
              <a:buFont typeface="Fira Sans"/>
              <a:buNone/>
            </a:pPr>
            <a:r>
              <a:rPr b="0" i="0" lang="en-US" sz="1000" u="none" cap="none" strike="noStrike">
                <a:solidFill>
                  <a:srgbClr val="E0D6DE"/>
                </a:solidFill>
                <a:latin typeface="Fira Sans"/>
                <a:ea typeface="Fira Sans"/>
                <a:cs typeface="Fira Sans"/>
                <a:sym typeface="Fira Sans"/>
              </a:rPr>
              <a:t>While the STM32F4DISCOVERY is the primary target, pqm4 supports multiple platforms: </a:t>
            </a:r>
            <a:r>
              <a:rPr b="1" i="0" lang="en-US" sz="1000" u="none" cap="none" strike="noStrike">
                <a:solidFill>
                  <a:srgbClr val="E0D6DE"/>
                </a:solidFill>
                <a:latin typeface="Fira Sans"/>
                <a:ea typeface="Fira Sans"/>
                <a:cs typeface="Fira Sans"/>
                <a:sym typeface="Fira Sans"/>
              </a:rPr>
              <a:t>STM32L4</a:t>
            </a:r>
            <a:r>
              <a:rPr b="0" i="0" lang="en-US" sz="1000" u="none" cap="none" strike="noStrike">
                <a:solidFill>
                  <a:srgbClr val="E0D6DE"/>
                </a:solidFill>
                <a:latin typeface="Fira Sans"/>
                <a:ea typeface="Fira Sans"/>
                <a:cs typeface="Fira Sans"/>
                <a:sym typeface="Fira Sans"/>
              </a:rPr>
              <a:t> for ultra-low-power applications with reduced RAM (typically 64 KiB), and </a:t>
            </a:r>
            <a:r>
              <a:rPr b="1" i="0" lang="en-US" sz="1000" u="none" cap="none" strike="noStrike">
                <a:solidFill>
                  <a:srgbClr val="E0D6DE"/>
                </a:solidFill>
                <a:latin typeface="Fira Sans"/>
                <a:ea typeface="Fira Sans"/>
                <a:cs typeface="Fira Sans"/>
                <a:sym typeface="Fira Sans"/>
              </a:rPr>
              <a:t>QEMU</a:t>
            </a:r>
            <a:r>
              <a:rPr b="0" i="0" lang="en-US" sz="1000" u="none" cap="none" strike="noStrike">
                <a:solidFill>
                  <a:srgbClr val="E0D6DE"/>
                </a:solidFill>
                <a:latin typeface="Fira Sans"/>
                <a:ea typeface="Fira Sans"/>
                <a:cs typeface="Fira Sans"/>
                <a:sym typeface="Fira Sans"/>
              </a:rPr>
              <a:t> for ARM Cortex-M4 emulation. QEMU support is particularly valuable for researchers without physical hardware — it enables rapid iteration and initial benchmarking before deploying to silicon. The framework's abstraction layer makes adding new target platforms straightforward.</a:t>
            </a:r>
            <a:endParaRPr b="0" i="0" sz="1000" u="none" cap="none" strike="noStrike">
              <a:solidFill>
                <a:schemeClr val="dk1"/>
              </a:solidFill>
              <a:latin typeface="Calibri"/>
              <a:ea typeface="Calibri"/>
              <a:cs typeface="Calibri"/>
              <a:sym typeface="Calibri"/>
            </a:endParaRPr>
          </a:p>
        </p:txBody>
      </p:sp>
      <p:sp>
        <p:nvSpPr>
          <p:cNvPr id="111" name="Google Shape;111;p9"/>
          <p:cNvSpPr/>
          <p:nvPr/>
        </p:nvSpPr>
        <p:spPr>
          <a:xfrm>
            <a:off x="661475" y="3949204"/>
            <a:ext cx="5381490" cy="2370832"/>
          </a:xfrm>
          <a:prstGeom prst="roundRect">
            <a:avLst>
              <a:gd fmla="val 837" name="adj"/>
            </a:avLst>
          </a:prstGeom>
          <a:solidFill>
            <a:srgbClr val="2E2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9"/>
          <p:cNvSpPr/>
          <p:nvPr/>
        </p:nvSpPr>
        <p:spPr>
          <a:xfrm>
            <a:off x="793730" y="4081463"/>
            <a:ext cx="396865" cy="396875"/>
          </a:xfrm>
          <a:prstGeom prst="ellipse">
            <a:avLst/>
          </a:prstGeom>
          <a:solidFill>
            <a:srgbClr val="FF6B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3" name="Google Shape;113;p9"/>
          <p:cNvPicPr preferRelativeResize="0"/>
          <p:nvPr/>
        </p:nvPicPr>
        <p:blipFill rotWithShape="1">
          <a:blip r:embed="rId5">
            <a:alphaModFix/>
          </a:blip>
          <a:srcRect b="0" l="0" r="0" t="0"/>
          <a:stretch/>
        </p:blipFill>
        <p:spPr>
          <a:xfrm>
            <a:off x="902868" y="4190603"/>
            <a:ext cx="178589" cy="178594"/>
          </a:xfrm>
          <a:prstGeom prst="rect">
            <a:avLst/>
          </a:prstGeom>
          <a:noFill/>
          <a:ln>
            <a:noFill/>
          </a:ln>
        </p:spPr>
      </p:pic>
      <p:sp>
        <p:nvSpPr>
          <p:cNvPr id="114" name="Google Shape;114;p9"/>
          <p:cNvSpPr/>
          <p:nvPr/>
        </p:nvSpPr>
        <p:spPr>
          <a:xfrm>
            <a:off x="793730" y="4584105"/>
            <a:ext cx="5116980" cy="20667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0D6DE"/>
              </a:buClr>
              <a:buSzPts val="1300"/>
              <a:buFont typeface="Fira Mono Medium"/>
              <a:buNone/>
            </a:pPr>
            <a:r>
              <a:rPr b="0" i="0" lang="en-US" sz="1300" u="none" cap="none" strike="noStrike">
                <a:solidFill>
                  <a:srgbClr val="E0D6DE"/>
                </a:solidFill>
                <a:latin typeface="Fira Mono Medium"/>
                <a:ea typeface="Fira Mono Medium"/>
                <a:cs typeface="Fira Mono Medium"/>
                <a:sym typeface="Fira Mono Medium"/>
              </a:rPr>
              <a:t>Optimised Implementations</a:t>
            </a:r>
            <a:endParaRPr b="0" i="0" sz="1300" u="none" cap="none" strike="noStrike">
              <a:solidFill>
                <a:schemeClr val="dk1"/>
              </a:solidFill>
              <a:latin typeface="Calibri"/>
              <a:ea typeface="Calibri"/>
              <a:cs typeface="Calibri"/>
              <a:sym typeface="Calibri"/>
            </a:endParaRPr>
          </a:p>
        </p:txBody>
      </p:sp>
      <p:sp>
        <p:nvSpPr>
          <p:cNvPr id="115" name="Google Shape;115;p9"/>
          <p:cNvSpPr/>
          <p:nvPr/>
        </p:nvSpPr>
        <p:spPr>
          <a:xfrm>
            <a:off x="793730" y="4854277"/>
            <a:ext cx="5116980" cy="133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0D6DE"/>
              </a:buClr>
              <a:buSzPts val="1000"/>
              <a:buFont typeface="Fira Sans"/>
              <a:buNone/>
            </a:pPr>
            <a:r>
              <a:rPr b="0" i="0" lang="en-US" sz="1000" u="none" cap="none" strike="noStrike">
                <a:solidFill>
                  <a:srgbClr val="E0D6DE"/>
                </a:solidFill>
                <a:latin typeface="Fira Sans"/>
                <a:ea typeface="Fira Sans"/>
                <a:cs typeface="Fira Sans"/>
                <a:sym typeface="Fira Sans"/>
              </a:rPr>
              <a:t>The repository hosts a curated collection of </a:t>
            </a:r>
            <a:r>
              <a:rPr b="1" i="0" lang="en-US" sz="1000" u="none" cap="none" strike="noStrike">
                <a:solidFill>
                  <a:srgbClr val="E0D6DE"/>
                </a:solidFill>
                <a:latin typeface="Fira Sans"/>
                <a:ea typeface="Fira Sans"/>
                <a:cs typeface="Fira Sans"/>
                <a:sym typeface="Fira Sans"/>
              </a:rPr>
              <a:t>highly optimised PQC implementations</a:t>
            </a:r>
            <a:r>
              <a:rPr b="0" i="0" lang="en-US" sz="1000" u="none" cap="none" strike="noStrike">
                <a:solidFill>
                  <a:srgbClr val="E0D6DE"/>
                </a:solidFill>
                <a:latin typeface="Fira Sans"/>
                <a:ea typeface="Fira Sans"/>
                <a:cs typeface="Fira Sans"/>
                <a:sym typeface="Fira Sans"/>
              </a:rPr>
              <a:t> contributed by leading researchers worldwide. These implementations exploit Cortex-M4-specific features: assembly-level optimisations for polynomial multiplication, bitsliced AES for CTR-DRBG, NEON-like SIMD operations via DSP instructions, and careful stack management to minimise RAM usage. Many implementations in pqm4 represent the state-of-the-art for embedded PQC performance.</a:t>
            </a:r>
            <a:endParaRPr b="0" i="0" sz="1000" u="none" cap="none" strike="noStrike">
              <a:solidFill>
                <a:schemeClr val="dk1"/>
              </a:solidFill>
              <a:latin typeface="Calibri"/>
              <a:ea typeface="Calibri"/>
              <a:cs typeface="Calibri"/>
              <a:sym typeface="Calibri"/>
            </a:endParaRPr>
          </a:p>
        </p:txBody>
      </p:sp>
      <p:sp>
        <p:nvSpPr>
          <p:cNvPr id="116" name="Google Shape;116;p9"/>
          <p:cNvSpPr/>
          <p:nvPr/>
        </p:nvSpPr>
        <p:spPr>
          <a:xfrm>
            <a:off x="6148730" y="3949204"/>
            <a:ext cx="5381490" cy="2370832"/>
          </a:xfrm>
          <a:prstGeom prst="roundRect">
            <a:avLst>
              <a:gd fmla="val 837" name="adj"/>
            </a:avLst>
          </a:prstGeom>
          <a:solidFill>
            <a:srgbClr val="2E2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9"/>
          <p:cNvSpPr/>
          <p:nvPr/>
        </p:nvSpPr>
        <p:spPr>
          <a:xfrm>
            <a:off x="6280985" y="4081463"/>
            <a:ext cx="396865" cy="396875"/>
          </a:xfrm>
          <a:prstGeom prst="ellipse">
            <a:avLst/>
          </a:prstGeom>
          <a:solidFill>
            <a:srgbClr val="FF6B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8" name="Google Shape;118;p9"/>
          <p:cNvPicPr preferRelativeResize="0"/>
          <p:nvPr/>
        </p:nvPicPr>
        <p:blipFill rotWithShape="1">
          <a:blip r:embed="rId6">
            <a:alphaModFix/>
          </a:blip>
          <a:srcRect b="0" l="0" r="0" t="0"/>
          <a:stretch/>
        </p:blipFill>
        <p:spPr>
          <a:xfrm>
            <a:off x="6390123" y="4190603"/>
            <a:ext cx="178589" cy="178594"/>
          </a:xfrm>
          <a:prstGeom prst="rect">
            <a:avLst/>
          </a:prstGeom>
          <a:noFill/>
          <a:ln>
            <a:noFill/>
          </a:ln>
        </p:spPr>
      </p:pic>
      <p:sp>
        <p:nvSpPr>
          <p:cNvPr id="119" name="Google Shape;119;p9"/>
          <p:cNvSpPr/>
          <p:nvPr/>
        </p:nvSpPr>
        <p:spPr>
          <a:xfrm>
            <a:off x="6280985" y="4584105"/>
            <a:ext cx="5116980" cy="20667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0D6DE"/>
              </a:buClr>
              <a:buSzPts val="1300"/>
              <a:buFont typeface="Fira Mono Medium"/>
              <a:buNone/>
            </a:pPr>
            <a:r>
              <a:rPr b="0" i="0" lang="en-US" sz="1300" u="none" cap="none" strike="noStrike">
                <a:solidFill>
                  <a:srgbClr val="E0D6DE"/>
                </a:solidFill>
                <a:latin typeface="Fira Mono Medium"/>
                <a:ea typeface="Fira Mono Medium"/>
                <a:cs typeface="Fira Mono Medium"/>
                <a:sym typeface="Fira Mono Medium"/>
              </a:rPr>
              <a:t>Comprehensive Documentation</a:t>
            </a:r>
            <a:endParaRPr b="0" i="0" sz="1300" u="none" cap="none" strike="noStrike">
              <a:solidFill>
                <a:schemeClr val="dk1"/>
              </a:solidFill>
              <a:latin typeface="Calibri"/>
              <a:ea typeface="Calibri"/>
              <a:cs typeface="Calibri"/>
              <a:sym typeface="Calibri"/>
            </a:endParaRPr>
          </a:p>
        </p:txBody>
      </p:sp>
      <p:sp>
        <p:nvSpPr>
          <p:cNvPr id="120" name="Google Shape;120;p9"/>
          <p:cNvSpPr/>
          <p:nvPr/>
        </p:nvSpPr>
        <p:spPr>
          <a:xfrm>
            <a:off x="6280985" y="4854277"/>
            <a:ext cx="5116980" cy="952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0D6DE"/>
              </a:buClr>
              <a:buSzPts val="1000"/>
              <a:buFont typeface="Fira Sans"/>
              <a:buNone/>
            </a:pPr>
            <a:r>
              <a:rPr b="0" i="0" lang="en-US" sz="1000" u="none" cap="none" strike="noStrike">
                <a:solidFill>
                  <a:srgbClr val="E0D6DE"/>
                </a:solidFill>
                <a:latin typeface="Fira Sans"/>
                <a:ea typeface="Fira Sans"/>
                <a:cs typeface="Fira Sans"/>
                <a:sym typeface="Fira Sans"/>
              </a:rPr>
              <a:t>Each scheme in pqm4 is accompanied by detailed documentation: implementation notes, optimisation strategies employed, known limitations, and references to the original research papers. The live benchmark tables on GitHub are continuously updated as new implementations are merged, providing the community with an always-current reference for embedded PQC performance.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0"/>
          <p:cNvSpPr/>
          <p:nvPr/>
        </p:nvSpPr>
        <p:spPr>
          <a:xfrm>
            <a:off x="661475" y="490537"/>
            <a:ext cx="10868745" cy="43239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chemeClr val="dk1"/>
              </a:buClr>
              <a:buSzPts val="2700"/>
              <a:buFont typeface="Calibri"/>
              <a:buNone/>
            </a:pPr>
            <a:r>
              <a:t/>
            </a:r>
            <a:endParaRPr b="0" i="0" sz="2700" u="none" cap="none" strike="noStrike">
              <a:solidFill>
                <a:schemeClr val="dk1"/>
              </a:solidFill>
              <a:latin typeface="Calibri"/>
              <a:ea typeface="Calibri"/>
              <a:cs typeface="Calibri"/>
              <a:sym typeface="Calibri"/>
            </a:endParaRPr>
          </a:p>
        </p:txBody>
      </p:sp>
      <p:sp>
        <p:nvSpPr>
          <p:cNvPr id="127" name="Google Shape;127;p10"/>
          <p:cNvSpPr/>
          <p:nvPr/>
        </p:nvSpPr>
        <p:spPr>
          <a:xfrm>
            <a:off x="661475" y="1154509"/>
            <a:ext cx="10868745" cy="406598"/>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E0D6DE"/>
              </a:buClr>
              <a:buSzPts val="1050"/>
              <a:buFont typeface="Fira Sans"/>
              <a:buNone/>
            </a:pPr>
            <a:r>
              <a:rPr b="0" i="0" lang="en-US" sz="1050" u="none" cap="none" strike="noStrike">
                <a:solidFill>
                  <a:srgbClr val="E0D6DE"/>
                </a:solidFill>
                <a:latin typeface="Fira Sans"/>
                <a:ea typeface="Fira Sans"/>
                <a:cs typeface="Fira Sans"/>
                <a:sym typeface="Fira Sans"/>
              </a:rPr>
              <a:t>Every research framework has boundaries, and pqm4 is no exception. Understanding these limitations is as valuable as the results themselves — they reveal where the field stands today and where future work is needed.</a:t>
            </a:r>
            <a:endParaRPr b="0" i="0" sz="1050" u="none" cap="none" strike="noStrike">
              <a:solidFill>
                <a:schemeClr val="dk1"/>
              </a:solidFill>
              <a:latin typeface="Calibri"/>
              <a:ea typeface="Calibri"/>
              <a:cs typeface="Calibri"/>
              <a:sym typeface="Calibri"/>
            </a:endParaRPr>
          </a:p>
        </p:txBody>
      </p:sp>
      <p:sp>
        <p:nvSpPr>
          <p:cNvPr id="128" name="Google Shape;128;p10"/>
          <p:cNvSpPr/>
          <p:nvPr/>
        </p:nvSpPr>
        <p:spPr>
          <a:xfrm>
            <a:off x="561862" y="1691283"/>
            <a:ext cx="5464832" cy="4676180"/>
          </a:xfrm>
          <a:prstGeom prst="roundRect">
            <a:avLst>
              <a:gd fmla="val 444" name="adj"/>
            </a:avLst>
          </a:prstGeom>
          <a:solidFill>
            <a:srgbClr val="FF6B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0"/>
          <p:cNvSpPr/>
          <p:nvPr/>
        </p:nvSpPr>
        <p:spPr>
          <a:xfrm>
            <a:off x="700169" y="1807071"/>
            <a:ext cx="5188217" cy="21609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350"/>
              <a:buFont typeface="Fira Mono Medium"/>
              <a:buNone/>
            </a:pPr>
            <a:r>
              <a:rPr b="0" i="0" lang="en-US" sz="1350" u="none" cap="none" strike="noStrike">
                <a:solidFill>
                  <a:srgbClr val="000000"/>
                </a:solidFill>
                <a:latin typeface="Fira Mono Medium"/>
                <a:ea typeface="Fira Mono Medium"/>
                <a:cs typeface="Fira Mono Medium"/>
                <a:sym typeface="Fira Mono Medium"/>
              </a:rPr>
              <a:t>Memory Constraints Are Unforgiving</a:t>
            </a:r>
            <a:endParaRPr b="0" i="0" sz="1350" u="none" cap="none" strike="noStrike">
              <a:solidFill>
                <a:schemeClr val="dk1"/>
              </a:solidFill>
              <a:latin typeface="Calibri"/>
              <a:ea typeface="Calibri"/>
              <a:cs typeface="Calibri"/>
              <a:sym typeface="Calibri"/>
            </a:endParaRPr>
          </a:p>
        </p:txBody>
      </p:sp>
      <p:sp>
        <p:nvSpPr>
          <p:cNvPr id="130" name="Google Shape;130;p10"/>
          <p:cNvSpPr/>
          <p:nvPr/>
        </p:nvSpPr>
        <p:spPr>
          <a:xfrm>
            <a:off x="700169" y="2138958"/>
            <a:ext cx="5188217" cy="1933873"/>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000000"/>
              </a:buClr>
              <a:buSzPts val="1050"/>
              <a:buFont typeface="Fira Sans"/>
              <a:buNone/>
            </a:pPr>
            <a:r>
              <a:rPr b="0" i="0" lang="en-US" sz="1050" u="none" cap="none" strike="noStrike">
                <a:solidFill>
                  <a:srgbClr val="000000"/>
                </a:solidFill>
                <a:latin typeface="Fira Sans"/>
                <a:ea typeface="Fira Sans"/>
                <a:cs typeface="Fira Sans"/>
                <a:sym typeface="Fira Sans"/>
              </a:rPr>
              <a:t>The most sobering lesson from pqm4 is that </a:t>
            </a:r>
            <a:r>
              <a:rPr b="1" i="0" lang="en-US" sz="1050" u="none" cap="none" strike="noStrike">
                <a:solidFill>
                  <a:srgbClr val="000000"/>
                </a:solidFill>
                <a:latin typeface="Fira Sans"/>
                <a:ea typeface="Fira Sans"/>
                <a:cs typeface="Fira Sans"/>
                <a:sym typeface="Fira Sans"/>
              </a:rPr>
              <a:t>many theoretically sound PQC schemes simply cannot run on constrained hardware</a:t>
            </a:r>
            <a:r>
              <a:rPr b="0" i="0" lang="en-US" sz="1050" u="none" cap="none" strike="noStrike">
                <a:solidFill>
                  <a:srgbClr val="000000"/>
                </a:solidFill>
                <a:latin typeface="Fira Sans"/>
                <a:ea typeface="Fira Sans"/>
                <a:cs typeface="Fira Sans"/>
                <a:sym typeface="Fira Sans"/>
              </a:rPr>
              <a:t>. Classic McEliece, a code-based KEM with strong security guarantees, requires hundreds of kilobytes of RAM — far exceeding the 196 KiB available on the STM32F4. Similarly, some multivariate signature schemes have public keys exceeding the available Flash. These schemes are not "bad" — they are simply designed for different deployment contexts. The lesson: </a:t>
            </a:r>
            <a:r>
              <a:rPr b="1" i="0" lang="en-US" sz="1050" u="none" cap="none" strike="noStrike">
                <a:solidFill>
                  <a:srgbClr val="000000"/>
                </a:solidFill>
                <a:latin typeface="Fira Sans"/>
                <a:ea typeface="Fira Sans"/>
                <a:cs typeface="Fira Sans"/>
                <a:sym typeface="Fira Sans"/>
              </a:rPr>
              <a:t>algorithm selection must be context-aware</a:t>
            </a:r>
            <a:r>
              <a:rPr b="0" i="0" lang="en-US" sz="1050" u="none" cap="none" strike="noStrike">
                <a:solidFill>
                  <a:srgbClr val="000000"/>
                </a:solidFill>
                <a:latin typeface="Fira Sans"/>
                <a:ea typeface="Fira Sans"/>
                <a:cs typeface="Fira Sans"/>
                <a:sym typeface="Fira Sans"/>
              </a:rPr>
              <a:t>, and embedded deployment requires algorithms designed with resource constraints in mind from the outset.</a:t>
            </a:r>
            <a:endParaRPr b="0" i="0" sz="1050" u="none" cap="none" strike="noStrike">
              <a:solidFill>
                <a:schemeClr val="dk1"/>
              </a:solidFill>
              <a:latin typeface="Calibri"/>
              <a:ea typeface="Calibri"/>
              <a:cs typeface="Calibri"/>
              <a:sym typeface="Calibri"/>
            </a:endParaRPr>
          </a:p>
        </p:txBody>
      </p:sp>
      <p:sp>
        <p:nvSpPr>
          <p:cNvPr id="131" name="Google Shape;131;p10"/>
          <p:cNvSpPr/>
          <p:nvPr/>
        </p:nvSpPr>
        <p:spPr>
          <a:xfrm>
            <a:off x="700169" y="4188619"/>
            <a:ext cx="5188217" cy="21609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350"/>
              <a:buFont typeface="Fira Mono Medium"/>
              <a:buNone/>
            </a:pPr>
            <a:r>
              <a:rPr b="0" i="0" lang="en-US" sz="1350" u="none" cap="none" strike="noStrike">
                <a:solidFill>
                  <a:srgbClr val="000000"/>
                </a:solidFill>
                <a:latin typeface="Fira Mono Medium"/>
                <a:ea typeface="Fira Mono Medium"/>
                <a:cs typeface="Fira Mono Medium"/>
                <a:sym typeface="Fira Mono Medium"/>
              </a:rPr>
              <a:t>Hardware-Specific Optimisations Are Essential</a:t>
            </a:r>
            <a:endParaRPr b="0" i="0" sz="1350" u="none" cap="none" strike="noStrike">
              <a:solidFill>
                <a:schemeClr val="dk1"/>
              </a:solidFill>
              <a:latin typeface="Calibri"/>
              <a:ea typeface="Calibri"/>
              <a:cs typeface="Calibri"/>
              <a:sym typeface="Calibri"/>
            </a:endParaRPr>
          </a:p>
        </p:txBody>
      </p:sp>
      <p:sp>
        <p:nvSpPr>
          <p:cNvPr id="132" name="Google Shape;132;p10"/>
          <p:cNvSpPr/>
          <p:nvPr/>
        </p:nvSpPr>
        <p:spPr>
          <a:xfrm>
            <a:off x="700169" y="4520505"/>
            <a:ext cx="5188217" cy="1219795"/>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000000"/>
              </a:buClr>
              <a:buSzPts val="1050"/>
              <a:buFont typeface="Fira Sans"/>
              <a:buNone/>
            </a:pPr>
            <a:r>
              <a:rPr b="0" i="0" lang="en-US" sz="1050" u="none" cap="none" strike="noStrike">
                <a:solidFill>
                  <a:srgbClr val="000000"/>
                </a:solidFill>
                <a:latin typeface="Fira Sans"/>
                <a:ea typeface="Fira Sans"/>
                <a:cs typeface="Fira Sans"/>
                <a:sym typeface="Fira Sans"/>
              </a:rPr>
              <a:t>Generic C implementations of PQC algorithms are often 3–10× slower than optimised versions on Cortex-M4. Techniques like </a:t>
            </a:r>
            <a:r>
              <a:rPr b="1" i="0" lang="en-US" sz="1050" u="none" cap="none" strike="noStrike">
                <a:solidFill>
                  <a:srgbClr val="000000"/>
                </a:solidFill>
                <a:latin typeface="Fira Sans"/>
                <a:ea typeface="Fira Sans"/>
                <a:cs typeface="Fira Sans"/>
                <a:sym typeface="Fira Sans"/>
              </a:rPr>
              <a:t>bitsliced AES</a:t>
            </a:r>
            <a:r>
              <a:rPr b="0" i="0" lang="en-US" sz="1050" u="none" cap="none" strike="noStrike">
                <a:solidFill>
                  <a:srgbClr val="000000"/>
                </a:solidFill>
                <a:latin typeface="Fira Sans"/>
                <a:ea typeface="Fira Sans"/>
                <a:cs typeface="Fira Sans"/>
                <a:sym typeface="Fira Sans"/>
              </a:rPr>
              <a:t> (for CTR-DRBG), assembly-level polynomial multiplication using DSP instructions, and careful register allocation can dramatically reduce cycle counts. pqm4 demonstrates that the difference between a "viable" and "impractical" implementation often comes down to optimisation effort, not algorithmic complexity.</a:t>
            </a:r>
            <a:endParaRPr b="0" i="0" sz="1050" u="none" cap="none" strike="noStrike">
              <a:solidFill>
                <a:schemeClr val="dk1"/>
              </a:solidFill>
              <a:latin typeface="Calibri"/>
              <a:ea typeface="Calibri"/>
              <a:cs typeface="Calibri"/>
              <a:sym typeface="Calibri"/>
            </a:endParaRPr>
          </a:p>
        </p:txBody>
      </p:sp>
      <p:sp>
        <p:nvSpPr>
          <p:cNvPr id="133" name="Google Shape;133;p10"/>
          <p:cNvSpPr/>
          <p:nvPr/>
        </p:nvSpPr>
        <p:spPr>
          <a:xfrm>
            <a:off x="6270964" y="1807071"/>
            <a:ext cx="5265606" cy="21609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BF3FA"/>
              </a:buClr>
              <a:buSzPts val="1350"/>
              <a:buFont typeface="Fira Mono Medium"/>
              <a:buNone/>
            </a:pPr>
            <a:r>
              <a:rPr b="0" i="0" lang="en-US" sz="1350" u="none" cap="none" strike="noStrike">
                <a:solidFill>
                  <a:srgbClr val="FBF3FA"/>
                </a:solidFill>
                <a:latin typeface="Fira Mono Medium"/>
                <a:ea typeface="Fira Mono Medium"/>
                <a:cs typeface="Fira Mono Medium"/>
                <a:sym typeface="Fira Mono Medium"/>
              </a:rPr>
              <a:t>Debunking the "Big and Slow" Myth</a:t>
            </a:r>
            <a:endParaRPr b="0" i="0" sz="1350" u="none" cap="none" strike="noStrike">
              <a:solidFill>
                <a:schemeClr val="dk1"/>
              </a:solidFill>
              <a:latin typeface="Calibri"/>
              <a:ea typeface="Calibri"/>
              <a:cs typeface="Calibri"/>
              <a:sym typeface="Calibri"/>
            </a:endParaRPr>
          </a:p>
        </p:txBody>
      </p:sp>
      <p:sp>
        <p:nvSpPr>
          <p:cNvPr id="134" name="Google Shape;134;p10"/>
          <p:cNvSpPr/>
          <p:nvPr/>
        </p:nvSpPr>
        <p:spPr>
          <a:xfrm>
            <a:off x="6270964" y="2138958"/>
            <a:ext cx="5265606" cy="1829693"/>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E0D6DE"/>
              </a:buClr>
              <a:buSzPts val="1050"/>
              <a:buFont typeface="Fira Sans"/>
              <a:buNone/>
            </a:pPr>
            <a:r>
              <a:rPr b="0" i="0" lang="en-US" sz="1050" u="none" cap="none" strike="noStrike">
                <a:solidFill>
                  <a:srgbClr val="E0D6DE"/>
                </a:solidFill>
                <a:latin typeface="Fira Sans"/>
                <a:ea typeface="Fira Sans"/>
                <a:cs typeface="Fira Sans"/>
                <a:sym typeface="Fira Sans"/>
              </a:rPr>
              <a:t>A persistent misconception in the early PQC discourse was that post-quantum algorithms are inherently too large and slow for embedded use. pqm4's results decisively refute this. </a:t>
            </a:r>
            <a:r>
              <a:rPr b="1" i="0" lang="en-US" sz="1050" u="none" cap="none" strike="noStrike">
                <a:solidFill>
                  <a:srgbClr val="E0D6DE"/>
                </a:solidFill>
                <a:latin typeface="Fira Sans"/>
                <a:ea typeface="Fira Sans"/>
                <a:cs typeface="Fira Sans"/>
                <a:sym typeface="Fira Sans"/>
              </a:rPr>
              <a:t>Kyber512 encapsulation completes in under 200,000 cycles</a:t>
            </a:r>
            <a:r>
              <a:rPr b="0" i="0" lang="en-US" sz="1050" u="none" cap="none" strike="noStrike">
                <a:solidFill>
                  <a:srgbClr val="E0D6DE"/>
                </a:solidFill>
                <a:latin typeface="Fira Sans"/>
                <a:ea typeface="Fira Sans"/>
                <a:cs typeface="Fira Sans"/>
                <a:sym typeface="Fira Sans"/>
              </a:rPr>
              <a:t> on a 168 MHz Cortex-M4 — approximately 1.2 milliseconds. Dilithium2 signatures are generated in under 5 milliseconds. These are entirely practical figures for many embedded applications. The key insight: </a:t>
            </a:r>
            <a:r>
              <a:rPr b="1" i="0" lang="en-US" sz="1050" u="none" cap="none" strike="noStrike">
                <a:solidFill>
                  <a:srgbClr val="E0D6DE"/>
                </a:solidFill>
                <a:latin typeface="Fira Sans"/>
                <a:ea typeface="Fira Sans"/>
                <a:cs typeface="Fira Sans"/>
                <a:sym typeface="Fira Sans"/>
              </a:rPr>
              <a:t>with proper optimisation, PQC is viable on microcontrollers</a:t>
            </a:r>
            <a:r>
              <a:rPr b="0" i="0" lang="en-US" sz="1050" u="none" cap="none" strike="noStrike">
                <a:solidFill>
                  <a:srgbClr val="E0D6DE"/>
                </a:solidFill>
                <a:latin typeface="Fira Sans"/>
                <a:ea typeface="Fira Sans"/>
                <a:cs typeface="Fira Sans"/>
                <a:sym typeface="Fira Sans"/>
              </a:rPr>
              <a:t>. The myth persisted because early implementations were unoptimised — pqm4 changed that narrative by showcasing what careful engineering can achieve.</a:t>
            </a:r>
            <a:endParaRPr b="0" i="0" sz="1050" u="none" cap="none" strike="noStrike">
              <a:solidFill>
                <a:schemeClr val="dk1"/>
              </a:solidFill>
              <a:latin typeface="Calibri"/>
              <a:ea typeface="Calibri"/>
              <a:cs typeface="Calibri"/>
              <a:sym typeface="Calibri"/>
            </a:endParaRPr>
          </a:p>
        </p:txBody>
      </p:sp>
      <p:sp>
        <p:nvSpPr>
          <p:cNvPr id="135" name="Google Shape;135;p10"/>
          <p:cNvSpPr/>
          <p:nvPr/>
        </p:nvSpPr>
        <p:spPr>
          <a:xfrm>
            <a:off x="6270964" y="4084439"/>
            <a:ext cx="5265606" cy="21609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BF3FA"/>
              </a:buClr>
              <a:buSzPts val="1350"/>
              <a:buFont typeface="Fira Mono Medium"/>
              <a:buNone/>
            </a:pPr>
            <a:r>
              <a:rPr b="0" i="0" lang="en-US" sz="1350" u="none" cap="none" strike="noStrike">
                <a:solidFill>
                  <a:srgbClr val="FBF3FA"/>
                </a:solidFill>
                <a:latin typeface="Fira Mono Medium"/>
                <a:ea typeface="Fira Mono Medium"/>
                <a:cs typeface="Fira Mono Medium"/>
                <a:sym typeface="Fira Mono Medium"/>
              </a:rPr>
              <a:t>Remaining Challenges</a:t>
            </a:r>
            <a:endParaRPr b="0" i="0" sz="1350" u="none" cap="none" strike="noStrike">
              <a:solidFill>
                <a:schemeClr val="dk1"/>
              </a:solidFill>
              <a:latin typeface="Calibri"/>
              <a:ea typeface="Calibri"/>
              <a:cs typeface="Calibri"/>
              <a:sym typeface="Calibri"/>
            </a:endParaRPr>
          </a:p>
        </p:txBody>
      </p:sp>
      <p:sp>
        <p:nvSpPr>
          <p:cNvPr id="136" name="Google Shape;136;p10"/>
          <p:cNvSpPr/>
          <p:nvPr/>
        </p:nvSpPr>
        <p:spPr>
          <a:xfrm>
            <a:off x="6270964" y="4416326"/>
            <a:ext cx="5265606" cy="1910655"/>
          </a:xfrm>
          <a:prstGeom prst="rect">
            <a:avLst/>
          </a:prstGeom>
          <a:noFill/>
          <a:ln>
            <a:noFill/>
          </a:ln>
        </p:spPr>
        <p:txBody>
          <a:bodyPr anchorCtr="0" anchor="t" bIns="0" lIns="0" spcFirstLastPara="1" rIns="0" wrap="square" tIns="0">
            <a:noAutofit/>
          </a:bodyPr>
          <a:lstStyle/>
          <a:p>
            <a:pPr indent="-213360" lvl="0" marL="213360" marR="0" rtl="0" algn="l">
              <a:lnSpc>
                <a:spcPct val="122000"/>
              </a:lnSpc>
              <a:spcBef>
                <a:spcPts val="0"/>
              </a:spcBef>
              <a:spcAft>
                <a:spcPts val="0"/>
              </a:spcAft>
              <a:buClr>
                <a:srgbClr val="E0D6DE"/>
              </a:buClr>
              <a:buSzPts val="1050"/>
              <a:buFont typeface="Fira Sans"/>
              <a:buChar char="•"/>
            </a:pPr>
            <a:r>
              <a:rPr b="1" i="0" lang="en-US" sz="1050" u="none" cap="none" strike="noStrike">
                <a:solidFill>
                  <a:srgbClr val="E0D6DE"/>
                </a:solidFill>
                <a:latin typeface="Fira Sans"/>
                <a:ea typeface="Fira Sans"/>
                <a:cs typeface="Fira Sans"/>
                <a:sym typeface="Fira Sans"/>
              </a:rPr>
              <a:t>Side-channel resistance:</a:t>
            </a:r>
            <a:r>
              <a:rPr b="0" i="0" lang="en-US" sz="1050" u="none" cap="none" strike="noStrike">
                <a:solidFill>
                  <a:srgbClr val="E0D6DE"/>
                </a:solidFill>
                <a:latin typeface="Fira Sans"/>
                <a:ea typeface="Fira Sans"/>
                <a:cs typeface="Fira Sans"/>
                <a:sym typeface="Fira Sans"/>
              </a:rPr>
              <a:t> Many pqm4 implementations prioritise speed over constant-time execution. Production deployments require additional hardening against timing and power analysis attacks.</a:t>
            </a:r>
            <a:endParaRPr b="0" i="0" sz="1050" u="none" cap="none" strike="noStrike">
              <a:solidFill>
                <a:schemeClr val="dk1"/>
              </a:solidFill>
              <a:latin typeface="Calibri"/>
              <a:ea typeface="Calibri"/>
              <a:cs typeface="Calibri"/>
              <a:sym typeface="Calibri"/>
            </a:endParaRPr>
          </a:p>
          <a:p>
            <a:pPr indent="-213360" lvl="0" marL="213360" marR="0" rtl="0" algn="l">
              <a:lnSpc>
                <a:spcPct val="122000"/>
              </a:lnSpc>
              <a:spcBef>
                <a:spcPts val="0"/>
              </a:spcBef>
              <a:spcAft>
                <a:spcPts val="0"/>
              </a:spcAft>
              <a:buClr>
                <a:srgbClr val="E0D6DE"/>
              </a:buClr>
              <a:buSzPts val="1050"/>
              <a:buFont typeface="Fira Sans"/>
              <a:buChar char="•"/>
            </a:pPr>
            <a:r>
              <a:rPr b="1" i="0" lang="en-US" sz="1050" u="none" cap="none" strike="noStrike">
                <a:solidFill>
                  <a:srgbClr val="E0D6DE"/>
                </a:solidFill>
                <a:latin typeface="Fira Sans"/>
                <a:ea typeface="Fira Sans"/>
                <a:cs typeface="Fira Sans"/>
                <a:sym typeface="Fira Sans"/>
              </a:rPr>
              <a:t>Dynamic memory:</a:t>
            </a:r>
            <a:r>
              <a:rPr b="0" i="0" lang="en-US" sz="1050" u="none" cap="none" strike="noStrike">
                <a:solidFill>
                  <a:srgbClr val="E0D6DE"/>
                </a:solidFill>
                <a:latin typeface="Fira Sans"/>
                <a:ea typeface="Fira Sans"/>
                <a:cs typeface="Fira Sans"/>
                <a:sym typeface="Fira Sans"/>
              </a:rPr>
              <a:t> Some schemes use heap allocation, which is problematic in safety-critical embedded systems. Stack-only implementations are preferred but not always available.</a:t>
            </a:r>
            <a:endParaRPr b="0" i="0" sz="1050" u="none" cap="none" strike="noStrike">
              <a:solidFill>
                <a:schemeClr val="dk1"/>
              </a:solidFill>
              <a:latin typeface="Calibri"/>
              <a:ea typeface="Calibri"/>
              <a:cs typeface="Calibri"/>
              <a:sym typeface="Calibri"/>
            </a:endParaRPr>
          </a:p>
          <a:p>
            <a:pPr indent="-213360" lvl="0" marL="213360" marR="0" rtl="0" algn="l">
              <a:lnSpc>
                <a:spcPct val="122000"/>
              </a:lnSpc>
              <a:spcBef>
                <a:spcPts val="0"/>
              </a:spcBef>
              <a:spcAft>
                <a:spcPts val="0"/>
              </a:spcAft>
              <a:buClr>
                <a:srgbClr val="E0D6DE"/>
              </a:buClr>
              <a:buSzPts val="1050"/>
              <a:buFont typeface="Fira Sans"/>
              <a:buChar char="•"/>
            </a:pPr>
            <a:r>
              <a:rPr b="1" i="0" lang="en-US" sz="1050" u="none" cap="none" strike="noStrike">
                <a:solidFill>
                  <a:srgbClr val="E0D6DE"/>
                </a:solidFill>
                <a:latin typeface="Fira Sans"/>
                <a:ea typeface="Fira Sans"/>
                <a:cs typeface="Fira Sans"/>
                <a:sym typeface="Fira Sans"/>
              </a:rPr>
              <a:t>Integration overhead:</a:t>
            </a:r>
            <a:r>
              <a:rPr b="0" i="0" lang="en-US" sz="1050" u="none" cap="none" strike="noStrike">
                <a:solidFill>
                  <a:srgbClr val="E0D6DE"/>
                </a:solidFill>
                <a:latin typeface="Fira Sans"/>
                <a:ea typeface="Fira Sans"/>
                <a:cs typeface="Fira Sans"/>
                <a:sym typeface="Fira Sans"/>
              </a:rPr>
              <a:t> Benchmarking isolated algorithms is simpler than integrating them into a full protocol stack (e.g., TLS 1.3 with PQC key exchange), which introduces additional memory and latency costs.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1"/>
          <p:cNvSpPr/>
          <p:nvPr/>
        </p:nvSpPr>
        <p:spPr>
          <a:xfrm>
            <a:off x="661475" y="454819"/>
            <a:ext cx="10868745" cy="51673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BF3FA"/>
              </a:buClr>
              <a:buSzPts val="3250"/>
              <a:buFont typeface="Fira Mono Medium"/>
              <a:buNone/>
            </a:pPr>
            <a:r>
              <a:rPr b="0" i="0" lang="en-US" sz="3250" u="none" cap="none" strike="noStrike">
                <a:solidFill>
                  <a:srgbClr val="FBF3FA"/>
                </a:solidFill>
                <a:latin typeface="Fira Mono Medium"/>
                <a:ea typeface="Fira Mono Medium"/>
                <a:cs typeface="Fira Mono Medium"/>
                <a:sym typeface="Fira Mono Medium"/>
              </a:rPr>
              <a:t>Conclusion</a:t>
            </a:r>
            <a:endParaRPr b="0" i="0" sz="3250" u="none" cap="none" strike="noStrike">
              <a:solidFill>
                <a:schemeClr val="dk1"/>
              </a:solidFill>
              <a:latin typeface="Calibri"/>
              <a:ea typeface="Calibri"/>
              <a:cs typeface="Calibri"/>
              <a:sym typeface="Calibri"/>
            </a:endParaRPr>
          </a:p>
        </p:txBody>
      </p:sp>
      <p:sp>
        <p:nvSpPr>
          <p:cNvPr id="143" name="Google Shape;143;p11"/>
          <p:cNvSpPr/>
          <p:nvPr/>
        </p:nvSpPr>
        <p:spPr>
          <a:xfrm>
            <a:off x="661475" y="1302246"/>
            <a:ext cx="10868745" cy="793849"/>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0D6DE"/>
              </a:buClr>
              <a:buSzPts val="1300"/>
              <a:buFont typeface="Fira Sans"/>
              <a:buNone/>
            </a:pPr>
            <a:r>
              <a:rPr b="0" i="0" lang="en-US" sz="1300" u="none" cap="none" strike="noStrike">
                <a:solidFill>
                  <a:srgbClr val="E0D6DE"/>
                </a:solidFill>
                <a:latin typeface="Fira Sans"/>
                <a:ea typeface="Fira Sans"/>
                <a:cs typeface="Fira Sans"/>
                <a:sym typeface="Fira Sans"/>
              </a:rPr>
              <a:t>pqm4 represents a critical milestone in the journey toward quantum-resistant embedded systems. By providing rigorous, reproducible, and publicly accessible benchmarks on real hardware, it has transformed post-quantum cryptography from an abstract mathematical exercise into an engineering discipline with measurable, comparable outcomes.</a:t>
            </a:r>
            <a:endParaRPr b="0" i="0" sz="1300" u="none" cap="none" strike="noStrike">
              <a:solidFill>
                <a:schemeClr val="dk1"/>
              </a:solidFill>
              <a:latin typeface="Calibri"/>
              <a:ea typeface="Calibri"/>
              <a:cs typeface="Calibri"/>
              <a:sym typeface="Calibri"/>
            </a:endParaRPr>
          </a:p>
        </p:txBody>
      </p:sp>
      <p:sp>
        <p:nvSpPr>
          <p:cNvPr id="144" name="Google Shape;144;p11"/>
          <p:cNvSpPr/>
          <p:nvPr/>
        </p:nvSpPr>
        <p:spPr>
          <a:xfrm>
            <a:off x="661475" y="2282130"/>
            <a:ext cx="3512653" cy="4122142"/>
          </a:xfrm>
          <a:prstGeom prst="roundRect">
            <a:avLst>
              <a:gd fmla="val 706" name="adj"/>
            </a:avLst>
          </a:prstGeom>
          <a:solidFill>
            <a:srgbClr val="2E2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a:off x="826769" y="2447429"/>
            <a:ext cx="3182064" cy="51693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0D6DE"/>
              </a:buClr>
              <a:buSzPts val="1600"/>
              <a:buFont typeface="Fira Mono Medium"/>
              <a:buNone/>
            </a:pPr>
            <a:r>
              <a:rPr b="0" i="0" lang="en-US" sz="1600" u="none" cap="none" strike="noStrike">
                <a:solidFill>
                  <a:srgbClr val="E0D6DE"/>
                </a:solidFill>
                <a:latin typeface="Fira Mono Medium"/>
                <a:ea typeface="Fira Mono Medium"/>
                <a:cs typeface="Fira Mono Medium"/>
                <a:sym typeface="Fira Mono Medium"/>
              </a:rPr>
              <a:t>Bridging Theory and Hardware</a:t>
            </a:r>
            <a:endParaRPr b="0" i="0" sz="1600" u="none" cap="none" strike="noStrike">
              <a:solidFill>
                <a:schemeClr val="dk1"/>
              </a:solidFill>
              <a:latin typeface="Calibri"/>
              <a:ea typeface="Calibri"/>
              <a:cs typeface="Calibri"/>
              <a:sym typeface="Calibri"/>
            </a:endParaRPr>
          </a:p>
        </p:txBody>
      </p:sp>
      <p:sp>
        <p:nvSpPr>
          <p:cNvPr id="146" name="Google Shape;146;p11"/>
          <p:cNvSpPr/>
          <p:nvPr/>
        </p:nvSpPr>
        <p:spPr>
          <a:xfrm>
            <a:off x="826769" y="3063577"/>
            <a:ext cx="3182064" cy="317539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0D6DE"/>
              </a:buClr>
              <a:buSzPts val="1300"/>
              <a:buFont typeface="Fira Sans"/>
              <a:buNone/>
            </a:pPr>
            <a:r>
              <a:rPr b="0" i="0" lang="en-US" sz="1300" u="none" cap="none" strike="noStrike">
                <a:solidFill>
                  <a:srgbClr val="E0D6DE"/>
                </a:solidFill>
                <a:latin typeface="Fira Sans"/>
                <a:ea typeface="Fira Sans"/>
                <a:cs typeface="Fira Sans"/>
                <a:sym typeface="Fira Sans"/>
              </a:rPr>
              <a:t>Before pqm4, PQC evaluation on embedded platforms was fragmented and inconsistent. Researchers used different hardware, compilers, and measurement methodologies, making comparisons unreliable. pqm4 established a </a:t>
            </a:r>
            <a:r>
              <a:rPr b="1" i="0" lang="en-US" sz="1300" u="none" cap="none" strike="noStrike">
                <a:solidFill>
                  <a:srgbClr val="E0D6DE"/>
                </a:solidFill>
                <a:latin typeface="Fira Sans"/>
                <a:ea typeface="Fira Sans"/>
                <a:cs typeface="Fira Sans"/>
                <a:sym typeface="Fira Sans"/>
              </a:rPr>
              <a:t>gold standard for embedded PQC benchmarking</a:t>
            </a:r>
            <a:r>
              <a:rPr b="0" i="0" lang="en-US" sz="1300" u="none" cap="none" strike="noStrike">
                <a:solidFill>
                  <a:srgbClr val="E0D6DE"/>
                </a:solidFill>
                <a:latin typeface="Fira Sans"/>
                <a:ea typeface="Fira Sans"/>
                <a:cs typeface="Fira Sans"/>
                <a:sym typeface="Fira Sans"/>
              </a:rPr>
              <a:t> — a common platform that the entire community can use, extend, and trust. This standardization of methodology is arguably as valuable as the benchmark results themselves.</a:t>
            </a:r>
            <a:endParaRPr b="0" i="0" sz="1300" u="none" cap="none" strike="noStrike">
              <a:solidFill>
                <a:schemeClr val="dk1"/>
              </a:solidFill>
              <a:latin typeface="Calibri"/>
              <a:ea typeface="Calibri"/>
              <a:cs typeface="Calibri"/>
              <a:sym typeface="Calibri"/>
            </a:endParaRPr>
          </a:p>
        </p:txBody>
      </p:sp>
      <p:sp>
        <p:nvSpPr>
          <p:cNvPr id="147" name="Google Shape;147;p11"/>
          <p:cNvSpPr/>
          <p:nvPr/>
        </p:nvSpPr>
        <p:spPr>
          <a:xfrm>
            <a:off x="4339422" y="2282130"/>
            <a:ext cx="3512752" cy="4122142"/>
          </a:xfrm>
          <a:prstGeom prst="roundRect">
            <a:avLst>
              <a:gd fmla="val 706" name="adj"/>
            </a:avLst>
          </a:prstGeom>
          <a:solidFill>
            <a:srgbClr val="2E2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1"/>
          <p:cNvSpPr/>
          <p:nvPr/>
        </p:nvSpPr>
        <p:spPr>
          <a:xfrm>
            <a:off x="4504716" y="2447429"/>
            <a:ext cx="3182163" cy="25846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0D6DE"/>
              </a:buClr>
              <a:buSzPts val="1600"/>
              <a:buFont typeface="Fira Mono Medium"/>
              <a:buNone/>
            </a:pPr>
            <a:r>
              <a:rPr b="0" i="0" lang="en-US" sz="1600" u="none" cap="none" strike="noStrike">
                <a:solidFill>
                  <a:srgbClr val="E0D6DE"/>
                </a:solidFill>
                <a:latin typeface="Fira Mono Medium"/>
                <a:ea typeface="Fira Mono Medium"/>
                <a:cs typeface="Fira Mono Medium"/>
                <a:sym typeface="Fira Mono Medium"/>
              </a:rPr>
              <a:t>Ongoing Evolution</a:t>
            </a:r>
            <a:endParaRPr b="0" i="0" sz="1600" u="none" cap="none" strike="noStrike">
              <a:solidFill>
                <a:schemeClr val="dk1"/>
              </a:solidFill>
              <a:latin typeface="Calibri"/>
              <a:ea typeface="Calibri"/>
              <a:cs typeface="Calibri"/>
              <a:sym typeface="Calibri"/>
            </a:endParaRPr>
          </a:p>
        </p:txBody>
      </p:sp>
      <p:sp>
        <p:nvSpPr>
          <p:cNvPr id="149" name="Google Shape;149;p11"/>
          <p:cNvSpPr/>
          <p:nvPr/>
        </p:nvSpPr>
        <p:spPr>
          <a:xfrm>
            <a:off x="4504716" y="2805113"/>
            <a:ext cx="3182163" cy="291078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0D6DE"/>
              </a:buClr>
              <a:buSzPts val="1300"/>
              <a:buFont typeface="Fira Sans"/>
              <a:buNone/>
            </a:pPr>
            <a:r>
              <a:rPr b="0" i="0" lang="en-US" sz="1300" u="none" cap="none" strike="noStrike">
                <a:solidFill>
                  <a:srgbClr val="E0D6DE"/>
                </a:solidFill>
                <a:latin typeface="Fira Sans"/>
                <a:ea typeface="Fira Sans"/>
                <a:cs typeface="Fira Sans"/>
                <a:sym typeface="Fira Sans"/>
              </a:rPr>
              <a:t>he research team continues to add support for new NIST signature schemes from the ongoing additional call, integrate improved implementations from the community, and expand platform support. The framework's open-source nature ensures that it evolves alongside the PQC standardisation process, remaining relevant as new algorithms are standardised and new hardware platforms emerge.</a:t>
            </a:r>
            <a:endParaRPr b="0" i="0" sz="1300" u="none" cap="none" strike="noStrike">
              <a:solidFill>
                <a:schemeClr val="dk1"/>
              </a:solidFill>
              <a:latin typeface="Calibri"/>
              <a:ea typeface="Calibri"/>
              <a:cs typeface="Calibri"/>
              <a:sym typeface="Calibri"/>
            </a:endParaRPr>
          </a:p>
        </p:txBody>
      </p:sp>
      <p:sp>
        <p:nvSpPr>
          <p:cNvPr id="150" name="Google Shape;150;p11"/>
          <p:cNvSpPr/>
          <p:nvPr/>
        </p:nvSpPr>
        <p:spPr>
          <a:xfrm>
            <a:off x="8017468" y="2282130"/>
            <a:ext cx="3512653" cy="4122142"/>
          </a:xfrm>
          <a:prstGeom prst="roundRect">
            <a:avLst>
              <a:gd fmla="val 706" name="adj"/>
            </a:avLst>
          </a:prstGeom>
          <a:solidFill>
            <a:srgbClr val="2E2E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a:off x="8182762" y="2447429"/>
            <a:ext cx="3182064" cy="25846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0D6DE"/>
              </a:buClr>
              <a:buSzPts val="1600"/>
              <a:buFont typeface="Fira Mono Medium"/>
              <a:buNone/>
            </a:pPr>
            <a:r>
              <a:rPr b="0" i="0" lang="en-US" sz="1600" u="none" cap="none" strike="noStrike">
                <a:solidFill>
                  <a:srgbClr val="E0D6DE"/>
                </a:solidFill>
                <a:latin typeface="Fira Mono Medium"/>
                <a:ea typeface="Fira Mono Medium"/>
                <a:cs typeface="Fira Mono Medium"/>
                <a:sym typeface="Fira Mono Medium"/>
              </a:rPr>
              <a:t>The Final Takeaway</a:t>
            </a:r>
            <a:endParaRPr b="0" i="0" sz="1600" u="none" cap="none" strike="noStrike">
              <a:solidFill>
                <a:schemeClr val="dk1"/>
              </a:solidFill>
              <a:latin typeface="Calibri"/>
              <a:ea typeface="Calibri"/>
              <a:cs typeface="Calibri"/>
              <a:sym typeface="Calibri"/>
            </a:endParaRPr>
          </a:p>
        </p:txBody>
      </p:sp>
      <p:sp>
        <p:nvSpPr>
          <p:cNvPr id="152" name="Google Shape;152;p11"/>
          <p:cNvSpPr/>
          <p:nvPr/>
        </p:nvSpPr>
        <p:spPr>
          <a:xfrm>
            <a:off x="8182762" y="2805113"/>
            <a:ext cx="3182064" cy="291078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0D6DE"/>
              </a:buClr>
              <a:buSzPts val="1300"/>
              <a:buFont typeface="Fira Sans"/>
              <a:buNone/>
            </a:pPr>
            <a:r>
              <a:rPr b="0" i="0" lang="en-US" sz="1300" u="none" cap="none" strike="noStrike">
                <a:solidFill>
                  <a:srgbClr val="E0D6DE"/>
                </a:solidFill>
                <a:latin typeface="Fira Sans"/>
                <a:ea typeface="Fira Sans"/>
                <a:cs typeface="Fira Sans"/>
                <a:sym typeface="Fira Sans"/>
              </a:rPr>
              <a:t> pqm4 provides the measurement infrastructure that enables engineers to make informed decisions: which algorithm, which security level, which trade-off between speed, memory, and code size. For any organisation deploying embedded systems with long lifespans — industrial, automotive, medical, or IoT — the message is clear: </a:t>
            </a:r>
            <a:r>
              <a:rPr b="1" i="0" lang="en-US" sz="1300" u="none" cap="none" strike="noStrike">
                <a:solidFill>
                  <a:srgbClr val="E0D6DE"/>
                </a:solidFill>
                <a:latin typeface="Fira Sans"/>
                <a:ea typeface="Fira Sans"/>
                <a:cs typeface="Fira Sans"/>
                <a:sym typeface="Fira Sans"/>
              </a:rPr>
              <a:t>evaluate your PQC options now, on your actual hardware, using rigorous methodology</a:t>
            </a:r>
            <a:r>
              <a:rPr b="0" i="0" lang="en-US" sz="1300" u="none" cap="none" strike="noStrike">
                <a:solidFill>
                  <a:srgbClr val="E0D6DE"/>
                </a:solidFill>
                <a:latin typeface="Fira Sans"/>
                <a:ea typeface="Fira Sans"/>
                <a:cs typeface="Fira Sans"/>
                <a:sym typeface="Fira Sans"/>
              </a:rPr>
              <a:t>. </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